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0A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FIUB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"/>
            <a:ext cx="2745946" cy="91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103120"/>
            <a:ext cx="1109441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121B2D"/>
                </a:solidFill>
              </a:defRPr>
            </a:pPr>
            <a:r>
              <a:t>Knowledge Assistant</a:t>
            </a:r>
          </a:p>
          <a:p>
            <a:pPr>
              <a:defRPr sz="2200" i="1">
                <a:solidFill>
                  <a:srgbClr val="1F77B4"/>
                </a:solidFill>
              </a:defRPr>
            </a:pPr>
            <a:r>
              <a:t>Sistema multi-agente Agentic RAG seguro y alineado</a:t>
            </a:r>
          </a:p>
          <a:p>
            <a:pPr>
              <a:spcBef>
                <a:spcPts val="600"/>
              </a:spcBef>
              <a:defRPr sz="1800">
                <a:solidFill>
                  <a:srgbClr val="55606A"/>
                </a:solidFill>
              </a:defRPr>
            </a:pPr>
            <a:r>
              <a:t>Dominio: energía sostenible y edificios inteligentes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846320"/>
            <a:ext cx="1109441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121B2D"/>
                </a:solidFill>
              </a:rPr>
              <a:t>Grupo 1: </a:t>
            </a:r>
            <a:r>
              <a:rPr sz="1400">
                <a:solidFill>
                  <a:srgbClr val="121B2D"/>
                </a:solidFill>
              </a:rPr>
              <a:t>Fabian Sarmiento · Alejandro Lloveras · Jorge Cuenca</a:t>
            </a:r>
          </a:p>
          <a:p>
            <a:r>
              <a:rPr b="1" sz="1400">
                <a:solidFill>
                  <a:srgbClr val="121B2D"/>
                </a:solidFill>
              </a:rPr>
              <a:t>Materia: </a:t>
            </a:r>
            <a:r>
              <a:rPr sz="1400">
                <a:solidFill>
                  <a:srgbClr val="121B2D"/>
                </a:solidFill>
              </a:rPr>
              <a:t>Procesamiento de Lenguaje Natural III</a:t>
            </a:r>
          </a:p>
          <a:p>
            <a:r>
              <a:rPr b="1" sz="1400">
                <a:solidFill>
                  <a:srgbClr val="121B2D"/>
                </a:solidFill>
              </a:rPr>
              <a:t>Docentes: </a:t>
            </a:r>
            <a:r>
              <a:rPr sz="1400">
                <a:solidFill>
                  <a:srgbClr val="121B2D"/>
                </a:solidFill>
              </a:rPr>
              <a:t>Mg. Oksana Bokhonok · Esp. Abraham Rodriguez</a:t>
            </a:r>
          </a:p>
          <a:p>
            <a:r>
              <a:rPr b="1" sz="1400">
                <a:solidFill>
                  <a:srgbClr val="121B2D"/>
                </a:solidFill>
              </a:rPr>
              <a:t>Maestría: </a:t>
            </a:r>
            <a:r>
              <a:rPr sz="1400">
                <a:solidFill>
                  <a:srgbClr val="121B2D"/>
                </a:solidFill>
              </a:rPr>
              <a:t>Inteligencia Artificial — FIUBA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FIUB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228600"/>
            <a:ext cx="151027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868680"/>
            <a:ext cx="1828800" cy="54864"/>
          </a:xfrm>
          <a:prstGeom prst="rect">
            <a:avLst/>
          </a:prstGeom>
          <a:solidFill>
            <a:srgbClr val="00A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21B2D"/>
                </a:solidFill>
              </a:defRPr>
            </a:pPr>
            <a:r>
              <a:t>Agenda</a:t>
            </a:r>
          </a:p>
          <a:p>
            <a:pPr>
              <a:defRPr sz="1600" i="1">
                <a:solidFill>
                  <a:srgbClr val="1F77B4"/>
                </a:solidFill>
              </a:defRPr>
            </a:pPr>
            <a:r>
              <a:t>Lo que vamos a cubrir en 15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Problema y motivación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Arquitectura: 7 agentes, decisiones propias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RAG: MLP router + retriever de dos etapas + critic loop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Seguridad: OWASP Top-10 LLM aplicado al pipeline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Autenticación y multi-tenancy (registro / login JWT)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Alineación: Constitutional AI propio, NIST AI RMF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Resultados: métricas, logs, red-team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Demo en vivo y conclusiones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606A"/>
                </a:solidFill>
              </a:defRPr>
            </a:pPr>
            <a:r>
              <a:t>FIUBA · PNL III · Knowledge Assistant · Grupo 1                                    2/21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FIUB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228600"/>
            <a:ext cx="151027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868680"/>
            <a:ext cx="1828800" cy="54864"/>
          </a:xfrm>
          <a:prstGeom prst="rect">
            <a:avLst/>
          </a:prstGeom>
          <a:solidFill>
            <a:srgbClr val="00A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21B2D"/>
                </a:solidFill>
              </a:defRPr>
            </a:pPr>
            <a:r>
              <a:t>Problema</a:t>
            </a:r>
          </a:p>
          <a:p>
            <a:pPr>
              <a:defRPr sz="1600" i="1">
                <a:solidFill>
                  <a:srgbClr val="1F77B4"/>
                </a:solidFill>
              </a:defRPr>
            </a:pPr>
            <a:r>
              <a:t>RAG fiable en dominios técnicos heterogéneos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Los frameworks high-level operan como cajas negras: poco control sobre el flujo.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Riesgo de alucinaciones en respuestas operativas (BESS, HEMS, PV).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Corpus heterogéneo (científico / software / usuario): un retriever plano sesga.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Amenazas de prompt injection y fuga de PII en aplicaciones LLM.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Necesidad de cumplir NIST AI RMF y OWASP Top-10 LLM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606A"/>
                </a:solidFill>
              </a:defRPr>
            </a:pPr>
            <a:r>
              <a:t>FIUBA · PNL III · Knowledge Assistant · Grupo 1                                    3/21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FIUB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228600"/>
            <a:ext cx="151027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868680"/>
            <a:ext cx="1828800" cy="54864"/>
          </a:xfrm>
          <a:prstGeom prst="rect">
            <a:avLst/>
          </a:prstGeom>
          <a:solidFill>
            <a:srgbClr val="00A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21B2D"/>
                </a:solidFill>
              </a:defRPr>
            </a:pPr>
            <a:r>
              <a:t>Objetivos del proyecto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Construir un pipeline RAG agéntico transparente, sin frameworks que resuelvan el flujo entero.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Cumplir todos los requisitos de la cátedra: FastAPI, ≥2 agentes con comunicación dinámica, RAG, seguridad, modelo preexistente, costo/latencia, evaluación.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Agregar registro / inicio de sesión y aislamiento por usuario.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Implementar guardrails propios (OWASP Top-10 LLM) y alineación constitucional.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Producir un informe técnico y métricas que demuestren que el diseño resuelve el problema.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606A"/>
                </a:solidFill>
              </a:defRPr>
            </a:pPr>
            <a:r>
              <a:t>FIUBA · PNL III · Knowledge Assistant · Grupo 1                                    4/21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FIUB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228600"/>
            <a:ext cx="151027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868680"/>
            <a:ext cx="1828800" cy="54864"/>
          </a:xfrm>
          <a:prstGeom prst="rect">
            <a:avLst/>
          </a:prstGeom>
          <a:solidFill>
            <a:srgbClr val="00A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21B2D"/>
                </a:solidFill>
              </a:defRPr>
            </a:pPr>
            <a:r>
              <a:t>Arquitectura — 7 agentes en un grafo de estados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21B2D"/>
                </a:solidFill>
              </a:defRPr>
            </a:pPr>
            <a:r>
              <a:t>•  Auth (FastAPI + JWT + SQLite) → emite token al cliente.</a:t>
            </a:r>
          </a:p>
          <a:p>
            <a:pPr>
              <a:spcAft>
                <a:spcPts val="800"/>
              </a:spcAft>
              <a:defRPr sz="1500">
                <a:solidFill>
                  <a:srgbClr val="121B2D"/>
                </a:solidFill>
              </a:defRPr>
            </a:pPr>
            <a:r>
              <a:t>•  Cache semántico → corta circuitos de consultas repetidas.</a:t>
            </a:r>
          </a:p>
          <a:p>
            <a:pPr>
              <a:spcAft>
                <a:spcPts val="800"/>
              </a:spcAft>
              <a:defRPr sz="1500">
                <a:solidFill>
                  <a:srgbClr val="121B2D"/>
                </a:solidFill>
              </a:defRPr>
            </a:pPr>
            <a:r>
              <a:t>•  GuardAgent (entrada) → injection scoring + PII redaction propios.</a:t>
            </a:r>
          </a:p>
          <a:p>
            <a:pPr>
              <a:spcAft>
                <a:spcPts val="800"/>
              </a:spcAft>
              <a:defRPr sz="1500">
                <a:solidFill>
                  <a:srgbClr val="121B2D"/>
                </a:solidFill>
              </a:defRPr>
            </a:pPr>
            <a:r>
              <a:t>•  RouterAgent (MLP propio en PyTorch) → P(dominio | consulta).</a:t>
            </a:r>
          </a:p>
          <a:p>
            <a:pPr>
              <a:spcAft>
                <a:spcPts val="800"/>
              </a:spcAft>
              <a:defRPr sz="1500">
                <a:solidFill>
                  <a:srgbClr val="121B2D"/>
                </a:solidFill>
              </a:defRPr>
            </a:pPr>
            <a:r>
              <a:t>•  RetrievalAgent → búsqueda ponderada Qdrant + reranker cross-encoder.</a:t>
            </a:r>
          </a:p>
          <a:p>
            <a:pPr>
              <a:spcAft>
                <a:spcPts val="800"/>
              </a:spcAft>
              <a:defRPr sz="1500">
                <a:solidFill>
                  <a:srgbClr val="121B2D"/>
                </a:solidFill>
              </a:defRPr>
            </a:pPr>
            <a:r>
              <a:t>•  SynthesisAgent → LLM grounded sobre los chunks recuperados.</a:t>
            </a:r>
          </a:p>
          <a:p>
            <a:pPr>
              <a:spcAft>
                <a:spcPts val="800"/>
              </a:spcAft>
              <a:defRPr sz="1500">
                <a:solidFill>
                  <a:srgbClr val="121B2D"/>
                </a:solidFill>
              </a:defRPr>
            </a:pPr>
            <a:r>
              <a:t>•  CriticAgent → evalúa fidelidad y dispara reintentos (comunicación dinámica).</a:t>
            </a:r>
          </a:p>
          <a:p>
            <a:pPr>
              <a:spcAft>
                <a:spcPts val="800"/>
              </a:spcAft>
              <a:defRPr sz="1500">
                <a:solidFill>
                  <a:srgbClr val="121B2D"/>
                </a:solidFill>
              </a:defRPr>
            </a:pPr>
            <a:r>
              <a:t>•  GuardAgent (salida) → canary, leak markers, PII final.</a:t>
            </a:r>
          </a:p>
          <a:p>
            <a:pPr>
              <a:spcAft>
                <a:spcPts val="800"/>
              </a:spcAft>
              <a:defRPr sz="1500">
                <a:solidFill>
                  <a:srgbClr val="121B2D"/>
                </a:solidFill>
              </a:defRPr>
            </a:pPr>
            <a:r>
              <a:t>•  ActionAgent → audit log estructurado + webhook opcional.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606A"/>
                </a:solidFill>
              </a:defRPr>
            </a:pPr>
            <a:r>
              <a:t>FIUBA · PNL III · Knowledge Assistant · Grupo 1                                    5/21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FIUB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228600"/>
            <a:ext cx="151027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868680"/>
            <a:ext cx="1828800" cy="54864"/>
          </a:xfrm>
          <a:prstGeom prst="rect">
            <a:avLst/>
          </a:prstGeom>
          <a:solidFill>
            <a:srgbClr val="00A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21B2D"/>
                </a:solidFill>
              </a:defRPr>
            </a:pPr>
            <a:r>
              <a:t>Decisiones propias de diseño</a:t>
            </a:r>
          </a:p>
          <a:p>
            <a:pPr>
              <a:defRPr sz="1600" i="1">
                <a:solidFill>
                  <a:srgbClr val="1F77B4"/>
                </a:solidFill>
              </a:defRPr>
            </a:pPr>
            <a:r>
              <a:t>Sin frameworks que resuelvan el flujo completo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MLP en PyTorch entrenado sobre embeddings all-MiniLM-L6-v2 (50 epochs).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Retrieval ponderado: Score = P(c|q) · sim(q,d) → personaliza la búsqueda al dominio dominante.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Reranker cross-encoder ms-marco-MiniLM-L6 sobre top-10 → top-5 final.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Critic-loop con max_retries=2 y refinamiento de query (comunicación inter-agente).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Multi-provider registry: Gemini → Claude → Groq → OpenRouter → Kimi → Ollama.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Cache semántico Qdrant a 0.95 cosine, TTL 1 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606A"/>
                </a:solidFill>
              </a:defRPr>
            </a:pPr>
            <a:r>
              <a:t>FIUBA · PNL III · Knowledge Assistant · Grupo 1                                    6/21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FIUB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228600"/>
            <a:ext cx="151027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868680"/>
            <a:ext cx="1828800" cy="54864"/>
          </a:xfrm>
          <a:prstGeom prst="rect">
            <a:avLst/>
          </a:prstGeom>
          <a:solidFill>
            <a:srgbClr val="00A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21B2D"/>
                </a:solidFill>
              </a:defRPr>
            </a:pPr>
            <a:r>
              <a:t>Router MLP — clasificador propio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Arquitectura: Linear(384) → ReLU → Dropout(0.3) → Linear(128) → 3 clases (Science / Software / User).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Devuelve distribución de probabilidades, no etiqueta dura.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Evita fallos catastróficos: si la confianza &gt; 0.8 elige tier rápido del LLM (ahorro de costo).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Si Science &gt; 0.4 inyecta contexto ambiental vía MCP weather tool.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Entrenable en &lt; 1 minuto sobre el corpus completo.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606A"/>
                </a:solidFill>
              </a:defRPr>
            </a:pPr>
            <a:r>
              <a:t>FIUBA · PNL III · Knowledge Assistant · Grupo 1                                    7/21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FIUB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228600"/>
            <a:ext cx="151027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868680"/>
            <a:ext cx="1828800" cy="54864"/>
          </a:xfrm>
          <a:prstGeom prst="rect">
            <a:avLst/>
          </a:prstGeom>
          <a:solidFill>
            <a:srgbClr val="00A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21B2D"/>
                </a:solidFill>
              </a:defRPr>
            </a:pPr>
            <a:r>
              <a:t>Seguridad: OWASP Top-10 LLM 2025</a:t>
            </a:r>
          </a:p>
          <a:p>
            <a:pPr>
              <a:defRPr sz="1600" i="1">
                <a:solidFill>
                  <a:srgbClr val="1F77B4"/>
                </a:solidFill>
              </a:defRPr>
            </a:pPr>
            <a:r>
              <a:t>Defensa en profundidad, código propio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21B2D"/>
                </a:solidFill>
              </a:defRPr>
            </a:pPr>
            <a:r>
              <a:t>•  LLM01 Prompt Injection — injection_scorer.py (heurística + canary).</a:t>
            </a:r>
          </a:p>
          <a:p>
            <a:pPr>
              <a:spcAft>
                <a:spcPts val="800"/>
              </a:spcAft>
              <a:defRPr sz="1500">
                <a:solidFill>
                  <a:srgbClr val="121B2D"/>
                </a:solidFill>
              </a:defRPr>
            </a:pPr>
            <a:r>
              <a:t>•  LLM02 Insecure Output — validación de salida + redacción PII de salida.</a:t>
            </a:r>
          </a:p>
          <a:p>
            <a:pPr>
              <a:spcAft>
                <a:spcPts val="800"/>
              </a:spcAft>
              <a:defRPr sz="1500">
                <a:solidFill>
                  <a:srgbClr val="121B2D"/>
                </a:solidFill>
              </a:defRPr>
            </a:pPr>
            <a:r>
              <a:t>•  LLM04 DoS — sliding-window limiter + cuota diaria por usuario.</a:t>
            </a:r>
          </a:p>
          <a:p>
            <a:pPr>
              <a:spcAft>
                <a:spcPts val="800"/>
              </a:spcAft>
              <a:defRPr sz="1500">
                <a:solidFill>
                  <a:srgbClr val="121B2D"/>
                </a:solidFill>
              </a:defRPr>
            </a:pPr>
            <a:r>
              <a:t>•  LLM06 Sensitive Info — pii_redactor.py (email, DNI, CUIT, teléfono, IP, API keys).</a:t>
            </a:r>
          </a:p>
          <a:p>
            <a:pPr>
              <a:spcAft>
                <a:spcPts val="800"/>
              </a:spcAft>
              <a:defRPr sz="1500">
                <a:solidFill>
                  <a:srgbClr val="121B2D"/>
                </a:solidFill>
              </a:defRPr>
            </a:pPr>
            <a:r>
              <a:t>•  LLM07 Insecure Plugins — sandbox del MCP + timeouts en webhook.</a:t>
            </a:r>
          </a:p>
          <a:p>
            <a:pPr>
              <a:spcAft>
                <a:spcPts val="800"/>
              </a:spcAft>
              <a:defRPr sz="1500">
                <a:solidFill>
                  <a:srgbClr val="121B2D"/>
                </a:solidFill>
              </a:defRPr>
            </a:pPr>
            <a:r>
              <a:t>•  LLM08 Excessive Agency — el ActionAgent solo escribe logs y dispara webhooks read-only.</a:t>
            </a:r>
          </a:p>
          <a:p>
            <a:pPr>
              <a:spcAft>
                <a:spcPts val="800"/>
              </a:spcAft>
              <a:defRPr sz="1500">
                <a:solidFill>
                  <a:srgbClr val="121B2D"/>
                </a:solidFill>
              </a:defRPr>
            </a:pPr>
            <a:r>
              <a:t>•  LLM10 Model Theft — rate limit + cuota + watermark futuro.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606A"/>
                </a:solidFill>
              </a:defRPr>
            </a:pPr>
            <a:r>
              <a:t>FIUBA · PNL III · Knowledge Assistant · Grupo 1                                    8/21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FIUB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228600"/>
            <a:ext cx="151027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868680"/>
            <a:ext cx="1828800" cy="54864"/>
          </a:xfrm>
          <a:prstGeom prst="rect">
            <a:avLst/>
          </a:prstGeom>
          <a:solidFill>
            <a:srgbClr val="00A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21B2D"/>
                </a:solidFill>
              </a:defRPr>
            </a:pPr>
            <a:r>
              <a:t>Detección de prompt injection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Reglas regex con peso (1.0–1.2 para overrides, 0.4–0.6 para señales débiles).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Score saturante: s = 1 − exp(−Σ pesos) ∈ [0,1].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Decisión: ≥ 0.70 bloquea, ≥ 0.40 marca, &lt; 0.40 deja pasar.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Cobre EN/ES: 'ignore previous', 'olvida las reglas', 'modo desarrollador', DAN, 'reveal prompt'…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Trazabilidad total: matched_rules se loguea por consulta (auditable, defendible).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Canary token (signed-prompt) bloquea fugas de system prompt.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606A"/>
                </a:solidFill>
              </a:defRPr>
            </a:pPr>
            <a:r>
              <a:t>FIUBA · PNL III · Knowledge Assistant · Grupo 1                                    9/21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FIUB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228600"/>
            <a:ext cx="151027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868680"/>
            <a:ext cx="1828800" cy="54864"/>
          </a:xfrm>
          <a:prstGeom prst="rect">
            <a:avLst/>
          </a:prstGeom>
          <a:solidFill>
            <a:srgbClr val="00A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21B2D"/>
                </a:solidFill>
              </a:defRPr>
            </a:pPr>
            <a:r>
              <a:t>Autenticación y multi-tenancy</a:t>
            </a:r>
          </a:p>
          <a:p>
            <a:pPr>
              <a:defRPr sz="1600" i="1">
                <a:solidFill>
                  <a:srgbClr val="1F77B4"/>
                </a:solidFill>
              </a:defRPr>
            </a:pPr>
            <a:r>
              <a:t>Hand-rolled — sin fastapi-users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POST /auth/register · POST /auth/login · GET /auth/me — JWT HS256 (60 min).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Hash de passwords con bcrypt (passlib).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Roles: user / researcher / admin. RBAC en deps.py via require_role().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Cuota diaria por usuario + sliding-window de ráfagas (LLM04 mitigación).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Tabla query_records: cada consulta queda asociada al user_id (aislamiento).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session_id se prefijea con u&lt;id&gt;: para no compartir estado entre usuarios.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606A"/>
                </a:solidFill>
              </a:defRPr>
            </a:pPr>
            <a:r>
              <a:t>FIUBA · PNL III · Knowledge Assistant · Grupo 1                                    10/21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FIUB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228600"/>
            <a:ext cx="151027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868680"/>
            <a:ext cx="1828800" cy="54864"/>
          </a:xfrm>
          <a:prstGeom prst="rect">
            <a:avLst/>
          </a:prstGeom>
          <a:solidFill>
            <a:srgbClr val="00A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21B2D"/>
                </a:solidFill>
              </a:defRPr>
            </a:pPr>
            <a:r>
              <a:t>Alineación: Constitutional AI propio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constitution.yaml con 7 principios versionados: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  P1 Grounded — toda afirmación debe apoyarse en chunks.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  P2 No-PII — nunca emitir PII verbatim.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  P3 Safety — no instrucciones que comprometan personas/infra.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  P4 Honesty — expresar incertidumbre cuando no hay evidencia.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  P5 Scope — declinar fuera de energía sostenible / smart-building.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  P6 No-toxicity — respuestas respetuosas siempre.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  P7 Transparency — citar siempre los documentos usados.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El CriticAgent evalúa cada respuesta contra los principios y dispara reintento si falla.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606A"/>
                </a:solidFill>
              </a:defRPr>
            </a:pPr>
            <a:r>
              <a:t>FIUBA · PNL III · Knowledge Assistant · Grupo 1                                    11/21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FIUB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228600"/>
            <a:ext cx="151027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868680"/>
            <a:ext cx="1828800" cy="54864"/>
          </a:xfrm>
          <a:prstGeom prst="rect">
            <a:avLst/>
          </a:prstGeom>
          <a:solidFill>
            <a:srgbClr val="00A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21B2D"/>
                </a:solidFill>
              </a:defRPr>
            </a:pPr>
            <a:r>
              <a:t>NIST AI RMF — implementado en código vivo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GOVERN: docs/governance/policy.md (roles, retención, autoridad de stop-the-line).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MAP: risk_register.md — 12 riesgos puntuados L × I, ligados a controles concretos.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MEASURE: /metrics expone faithfulness, blocked_by_guard_rate, pii_redacted_count, error_rate, latency.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MANAGE: incident_response.md — sev-1 a sev-4 con runbook reproducible.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Model Card (Mitchell et al. 2019) y Datasheet (Gebru et al. 2021) en docs/governance/.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606A"/>
                </a:solidFill>
              </a:defRPr>
            </a:pPr>
            <a:r>
              <a:t>FIUBA · PNL III · Knowledge Assistant · Grupo 1                                    12/21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FIUB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228600"/>
            <a:ext cx="151027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868680"/>
            <a:ext cx="1828800" cy="54864"/>
          </a:xfrm>
          <a:prstGeom prst="rect">
            <a:avLst/>
          </a:prstGeom>
          <a:solidFill>
            <a:srgbClr val="00A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21B2D"/>
                </a:solidFill>
              </a:defRPr>
            </a:pPr>
            <a:r>
              <a:t>Métricas y logs</a:t>
            </a:r>
          </a:p>
          <a:p>
            <a:pPr>
              <a:defRPr sz="1600" i="1">
                <a:solidFill>
                  <a:srgbClr val="1F77B4"/>
                </a:solidFill>
              </a:defRPr>
            </a:pPr>
            <a:r>
              <a:t>Lo que pidió la consigna: demostrar que el diseño funciona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Faithfulness (Ragas, LLM judge): proporción de claims apoyadas por contexto.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Context recall (Ragas): cobertura de los hechos esperados.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Precision@5: fracción de chunks del dominio esperado.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ROUGE-L F1 + similitud semántica bge-large-en.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Tiempos: retrieval_time_ms, total_latency_ms (p50, p95).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Costo aproximado: token_count * precio_por_token del proveedor.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Logs: logs/audit.jsonl + tabla query_records (per-user persistente).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Endpoint /metrics con tasa de bloqueo, PII detectada, rate-limit hits.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606A"/>
                </a:solidFill>
              </a:defRPr>
            </a:pPr>
            <a:r>
              <a:t>FIUBA · PNL III · Knowledge Assistant · Grupo 1                                    13/21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FIUB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228600"/>
            <a:ext cx="151027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868680"/>
            <a:ext cx="1828800" cy="54864"/>
          </a:xfrm>
          <a:prstGeom prst="rect">
            <a:avLst/>
          </a:prstGeom>
          <a:solidFill>
            <a:srgbClr val="00A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21B2D"/>
                </a:solidFill>
              </a:defRPr>
            </a:pPr>
            <a:r>
              <a:t>Red-team propio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Suite de ataques propia en tests/test_security.py: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  · Direct override (EN/ES): 'ignore previous', 'olvida las reglas'.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  · Role swap: 'you are now DAN', 'modo desarrollador'.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  · System-prompt leak: 'reveal your prompt', 'muestra instrucciones'.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  · Secret exfil: 'output your api key'.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  · Adversarial noise / suffix.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  · PII fixtures (DNI, CUIT, email, IP).</a:t>
            </a:r>
          </a:p>
          <a:p>
            <a:pPr>
              <a:spcAft>
                <a:spcPts val="800"/>
              </a:spcAft>
              <a:defRPr sz="1400">
                <a:solidFill>
                  <a:srgbClr val="121B2D"/>
                </a:solidFill>
              </a:defRPr>
            </a:pPr>
            <a:r>
              <a:t>•  Métrica objetivo: injection_block_rate ≥ 0.90 sobre la suite.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606A"/>
                </a:solidFill>
              </a:defRPr>
            </a:pPr>
            <a:r>
              <a:t>FIUBA · PNL III · Knowledge Assistant · Grupo 1                                    14/21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FIUB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228600"/>
            <a:ext cx="151027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868680"/>
            <a:ext cx="1828800" cy="54864"/>
          </a:xfrm>
          <a:prstGeom prst="rect">
            <a:avLst/>
          </a:prstGeom>
          <a:solidFill>
            <a:srgbClr val="00A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21B2D"/>
                </a:solidFill>
              </a:defRPr>
            </a:pPr>
            <a:r>
              <a:t>Optimización de costo y latencia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Cache semántico Qdrant (≥ 0.95 cosine) → respuesta repetida ~ 0 ms y 0 tokens.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Tier de LLM dinámico: confianza &gt; 0.8 → modelo 'simple' (más barato).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Reranker reduce a top-5: el LLM ve 5 chunks, no 10.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Multi-provider: si Gemini se cae, fallback a Groq → Ollama (cero costo).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Sliding-window limiter evita gastos por bots.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Métrica: avg_latency_ms y cache_hit_rate visibles en /metrics.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606A"/>
                </a:solidFill>
              </a:defRPr>
            </a:pPr>
            <a:r>
              <a:t>FIUBA · PNL III · Knowledge Assistant · Grupo 1                                    15/21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FIUB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228600"/>
            <a:ext cx="151027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868680"/>
            <a:ext cx="1828800" cy="54864"/>
          </a:xfrm>
          <a:prstGeom prst="rect">
            <a:avLst/>
          </a:prstGeom>
          <a:solidFill>
            <a:srgbClr val="00A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21B2D"/>
                </a:solidFill>
              </a:defRPr>
            </a:pPr>
            <a:r>
              <a:t>Resultados (placeholder — completar con la última corrida)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Faithfulness:    ___ (objetivo ≥ 0.80)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Context recall:  ___ (objetivo ≥ 0.75)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Precision@5:     ___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Latencia p50:    ___ ms (objetivo &lt; 3000)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Latencia p95:    ___ ms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Cache hit rate:  ___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Injection block: ___ (objetivo ≥ 0.90 sobre red-team propio)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Tokens/consulta promedio: ___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606A"/>
                </a:solidFill>
              </a:defRPr>
            </a:pPr>
            <a:r>
              <a:t>FIUBA · PNL III · Knowledge Assistant · Grupo 1                                    16/21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FIUB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228600"/>
            <a:ext cx="151027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868680"/>
            <a:ext cx="1828800" cy="54864"/>
          </a:xfrm>
          <a:prstGeom prst="rect">
            <a:avLst/>
          </a:prstGeom>
          <a:solidFill>
            <a:srgbClr val="00A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21B2D"/>
                </a:solidFill>
              </a:defRPr>
            </a:pPr>
            <a:r>
              <a:t>Demo en vivo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1. POST /auth/register con email + password → 201.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2. POST /auth/login → recibimos JWT.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3. POST /query con Bearer token → respuesta fundamentada + citas.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4. Mostrar bloqueo: 'Ignore all previous instructions...' → 4xx con motivo.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5. GET /me/queries → historial del usuario, aislado.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6. GET /metrics → todas las métricas que diseñamos.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606A"/>
                </a:solidFill>
              </a:defRPr>
            </a:pPr>
            <a:r>
              <a:t>FIUBA · PNL III · Knowledge Assistant · Grupo 1                                    17/21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FIUB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228600"/>
            <a:ext cx="151027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868680"/>
            <a:ext cx="1828800" cy="54864"/>
          </a:xfrm>
          <a:prstGeom prst="rect">
            <a:avLst/>
          </a:prstGeom>
          <a:solidFill>
            <a:srgbClr val="00A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21B2D"/>
                </a:solidFill>
              </a:defRPr>
            </a:pPr>
            <a:r>
              <a:t>Marco regulatorio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EU AI Act (2024): este sistema es 'limited risk' → deber de transparencia (cumplido vía citas).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NIST AI RMF 1.0: cuatro funciones implementadas (ver docs/governance).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Anthropic Responsible Scaling Policy: nuestro modelo opera a ASL-2.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Argentina: sin ley específica al 2026, pero seguimos OECD/UNESCO.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Privacidad: PII redactada antes y después del LLM; logs sin valores crudos.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606A"/>
                </a:solidFill>
              </a:defRPr>
            </a:pPr>
            <a:r>
              <a:t>FIUBA · PNL III · Knowledge Assistant · Grupo 1                                    18/21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FIUB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228600"/>
            <a:ext cx="151027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868680"/>
            <a:ext cx="1828800" cy="54864"/>
          </a:xfrm>
          <a:prstGeom prst="rect">
            <a:avLst/>
          </a:prstGeom>
          <a:solidFill>
            <a:srgbClr val="00A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21B2D"/>
                </a:solidFill>
              </a:defRPr>
            </a:pPr>
            <a:r>
              <a:t>Limitaciones y trabajo futuro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Heurísticas vs clasificador entrenado: la regex perderá ataques novedosos → entrenar un classifier propio.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PII regex sufre falsos negativos en español; complementar con NER liviano es el siguiente paso.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Bias / fairness aún no cuantificado formalmente (corpus técnico, baja exposición a atributos protegidos).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Watermark de salidas y trust-score por chunk son stubs en risk_register pendientes de implementar.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Pipeline mono-proceso: para producción, mover rate-limiter a Redis.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606A"/>
                </a:solidFill>
              </a:defRPr>
            </a:pPr>
            <a:r>
              <a:t>FIUBA · PNL III · Knowledge Assistant · Grupo 1                                    19/21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FIUB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228600"/>
            <a:ext cx="151027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868680"/>
            <a:ext cx="1828800" cy="54864"/>
          </a:xfrm>
          <a:prstGeom prst="rect">
            <a:avLst/>
          </a:prstGeom>
          <a:solidFill>
            <a:srgbClr val="00A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21B2D"/>
                </a:solidFill>
              </a:defRPr>
            </a:pPr>
            <a:r>
              <a:t>Conclusiones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Construimos un pipeline agéntico explicable, sin cajas negras.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Cumplimos todos los requisitos de la consigna y agregamos auth + governance + alineación.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Cada control de seguridad mapea a un riesgo OWASP y a una métrica observable.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El sistema es defendible: cada decisión se puede explicar leyendo el código y los principios.</a:t>
            </a:r>
          </a:p>
          <a:p>
            <a:pPr>
              <a:spcAft>
                <a:spcPts val="800"/>
              </a:spcAft>
              <a:defRPr sz="1800">
                <a:solidFill>
                  <a:srgbClr val="121B2D"/>
                </a:solidFill>
              </a:defRPr>
            </a:pPr>
            <a:r>
              <a:t>•  Listo para iterar y extender (corpus, idiomas, fairness).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900">
                <a:solidFill>
                  <a:srgbClr val="55606A"/>
                </a:solidFill>
              </a:defRPr>
            </a:pPr>
            <a:r>
              <a:t>FIUBA · PNL III · Knowledge Assistant · Grupo 1                                    20/21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FIUB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640080"/>
            <a:ext cx="2745946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2560320"/>
            <a:ext cx="112772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121B2D"/>
                </a:solidFill>
              </a:defRPr>
            </a:pPr>
            <a:r>
              <a:t>¡Gracias!</a:t>
            </a:r>
          </a:p>
          <a:p>
            <a:pPr algn="ctr">
              <a:defRPr sz="2000" i="1">
                <a:solidFill>
                  <a:srgbClr val="1F77B4"/>
                </a:solidFill>
              </a:defRPr>
            </a:pPr>
            <a:r>
              <a:t>Preguntas, comentarios y red-team welcome.</a:t>
            </a:r>
          </a:p>
          <a:p>
            <a:pPr algn="ctr">
              <a:spcBef>
                <a:spcPts val="2400"/>
              </a:spcBef>
              <a:defRPr sz="1600">
                <a:solidFill>
                  <a:srgbClr val="55606A"/>
                </a:solidFill>
              </a:defRPr>
            </a:pPr>
            <a:r>
              <a:t>Grupo 1 — Sarmiento · Lloveras · Cuenca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