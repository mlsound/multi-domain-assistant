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424"/>
              </a:gs>
              <a:gs pos="52000">
                <a:srgbClr val="101F35"/>
              </a:gs>
              <a:gs pos="100000">
                <a:srgbClr val="162A46"/>
              </a:gs>
            </a:gsLst>
            <a:lin ang="33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FIUB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2745946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2057400"/>
            <a:ext cx="1091153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Knowledge Assistant</a:t>
            </a:r>
          </a:p>
          <a:p>
            <a:pPr>
              <a:spcBef>
                <a:spcPts val="600"/>
              </a:spcBef>
              <a:defRPr sz="2300" i="1">
                <a:solidFill>
                  <a:srgbClr val="00A8E1"/>
                </a:solidFill>
              </a:defRPr>
            </a:pPr>
            <a:r>
              <a:t>Sistema multi-agente Agentic RAG seguro y alineado</a:t>
            </a:r>
          </a:p>
          <a:p>
            <a:pPr>
              <a:spcBef>
                <a:spcPts val="400"/>
              </a:spcBef>
              <a:defRPr sz="1700">
                <a:solidFill>
                  <a:srgbClr val="B9C8D8"/>
                </a:solidFill>
              </a:defRPr>
            </a:pPr>
            <a:r>
              <a:t>Dominio: energía sostenible y edificios inteligentes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4526280"/>
            <a:ext cx="1828800" cy="54864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754880"/>
            <a:ext cx="109115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0A8E1"/>
                </a:solidFill>
              </a:rPr>
              <a:t>Grupo 1: </a:t>
            </a:r>
            <a:r>
              <a:rPr sz="1400">
                <a:solidFill>
                  <a:srgbClr val="DDE6EF"/>
                </a:solidFill>
              </a:rPr>
              <a:t>Fabian Sarmiento · Alejandro Lloveras · Jorge Cuenca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0A8E1"/>
                </a:solidFill>
              </a:rPr>
              <a:t>Materia: </a:t>
            </a:r>
            <a:r>
              <a:rPr sz="1400">
                <a:solidFill>
                  <a:srgbClr val="DDE6EF"/>
                </a:solidFill>
              </a:rPr>
              <a:t>Procesamiento de Lenguaje Natural III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0A8E1"/>
                </a:solidFill>
              </a:rPr>
              <a:t>Docentes: </a:t>
            </a:r>
            <a:r>
              <a:rPr sz="1400">
                <a:solidFill>
                  <a:srgbClr val="DDE6EF"/>
                </a:solidFill>
              </a:rPr>
              <a:t>Mg. Oksana Bokhonok · Esp. Abraham Rodriguez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0A8E1"/>
                </a:solidFill>
              </a:rPr>
              <a:t>Maestría: </a:t>
            </a:r>
            <a:r>
              <a:rPr sz="1400">
                <a:solidFill>
                  <a:srgbClr val="DDE6EF"/>
                </a:solidFill>
              </a:rPr>
              <a:t>Inteligencia Artificial — FIUBA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52000">
                <a:srgbClr val="F6F9FC"/>
              </a:gs>
              <a:gs pos="100000">
                <a:srgbClr val="ECF3F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gradFill rotWithShape="1">
            <a:gsLst>
              <a:gs pos="0">
                <a:srgbClr val="00A8E1"/>
              </a:gs>
              <a:gs pos="52000">
                <a:srgbClr val="1090CA"/>
              </a:gs>
              <a:gs pos="100000">
                <a:srgbClr val="1F77B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FIUB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274320"/>
            <a:ext cx="1427892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6928"/>
            <a:ext cx="99971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A8E1"/>
                </a:solidFill>
              </a:defRPr>
            </a:pPr>
            <a:r>
              <a:t>HOJA DE RUTA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50976"/>
            <a:ext cx="99971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21B2D"/>
                </a:solidFill>
              </a:defRPr>
            </a:pPr>
            <a:r>
              <a:t>Agenda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554480" cy="54864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47088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1F77B4"/>
                </a:solidFill>
              </a:defRPr>
            </a:pPr>
            <a:r>
              <a:t>Lo que vamos a cubrir en 15 minutos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Problema y motivación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Arquitectura: 7 agentes, decisiones propias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RAG: MLP router + retriever de dos etapas + critic loop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Seguridad: OWASP Top-10 LLM aplicado al pipeline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Autenticación y multi-tenancy (registro / login JWT)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Alineación: Constitutional AI propio, NIST AI RMF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Resultados: métricas, logs, red-team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Demo en vivo y conclusiones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1018001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00">
                <a:solidFill>
                  <a:srgbClr val="55606A"/>
                </a:solidFill>
              </a:defRPr>
            </a:pPr>
            <a:r>
              <a:t>FIUBA · PNL III · Knowledge Assistant · Grupo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048695" y="6437376"/>
            <a:ext cx="713232" cy="292608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 / 32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424"/>
              </a:gs>
              <a:gs pos="52000">
                <a:srgbClr val="101F35"/>
              </a:gs>
              <a:gs pos="100000">
                <a:srgbClr val="162A46"/>
              </a:gs>
            </a:gsLst>
            <a:lin ang="36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3246120"/>
            <a:ext cx="1280160" cy="73152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63721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A8E1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383280"/>
            <a:ext cx="106372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Contexto</a:t>
            </a:r>
          </a:p>
          <a:p>
            <a:pPr>
              <a:spcBef>
                <a:spcPts val="800"/>
              </a:spcBef>
              <a:defRPr sz="1800" i="1">
                <a:solidFill>
                  <a:srgbClr val="9FB6CC"/>
                </a:solidFill>
              </a:defRPr>
            </a:pPr>
            <a:r>
              <a:t>Problema, motivación y objetivos</a:t>
            </a:r>
          </a:p>
        </p:txBody>
      </p:sp>
      <p:pic>
        <p:nvPicPr>
          <p:cNvPr id="7" name="Picture 6" descr="logoFIUB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852160"/>
            <a:ext cx="1510270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473952"/>
            <a:ext cx="1018001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00">
                <a:solidFill>
                  <a:srgbClr val="55606A"/>
                </a:solidFill>
              </a:defRPr>
            </a:pPr>
            <a:r>
              <a:t>FIUBA · PNL III · Knowledge Assistant · Grupo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048695" y="6437376"/>
            <a:ext cx="713232" cy="292608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 / 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52000">
                <a:srgbClr val="F6F9FC"/>
              </a:gs>
              <a:gs pos="100000">
                <a:srgbClr val="ECF3F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gradFill rotWithShape="1">
            <a:gsLst>
              <a:gs pos="0">
                <a:srgbClr val="00A8E1"/>
              </a:gs>
              <a:gs pos="52000">
                <a:srgbClr val="1090CA"/>
              </a:gs>
              <a:gs pos="100000">
                <a:srgbClr val="1F77B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FIUB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274320"/>
            <a:ext cx="1427892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6928"/>
            <a:ext cx="99971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A8E1"/>
                </a:solidFill>
              </a:defRPr>
            </a:pPr>
            <a:r>
              <a:t>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50976"/>
            <a:ext cx="99971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21B2D"/>
                </a:solidFill>
              </a:defRPr>
            </a:pPr>
            <a:r>
              <a:t>Problema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554480" cy="54864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47088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1F77B4"/>
                </a:solidFill>
              </a:defRPr>
            </a:pPr>
            <a:r>
              <a:t>RAG fiable en dominios técnicos heterogéneos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Los frameworks high-level operan como cajas negras: poco control sobre el flujo.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Riesgo de alucinaciones en respuestas operativas (BESS, HEMS, PV).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Corpus heterogéneo (científico / software / usuario): un retriever plano sesga.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Amenazas de prompt injection y fuga de PII en aplicaciones LLM.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Necesidad de cumplir NIST AI RMF y OWASP Top-10 LLM 2025.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1018001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00">
                <a:solidFill>
                  <a:srgbClr val="55606A"/>
                </a:solidFill>
              </a:defRPr>
            </a:pPr>
            <a:r>
              <a:t>FIUBA · PNL III · Knowledge Assistant · Grupo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048695" y="6437376"/>
            <a:ext cx="713232" cy="292608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 / 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52000">
                <a:srgbClr val="F6F9FC"/>
              </a:gs>
              <a:gs pos="100000">
                <a:srgbClr val="ECF3F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gradFill rotWithShape="1">
            <a:gsLst>
              <a:gs pos="0">
                <a:srgbClr val="00A8E1"/>
              </a:gs>
              <a:gs pos="52000">
                <a:srgbClr val="1090CA"/>
              </a:gs>
              <a:gs pos="100000">
                <a:srgbClr val="1F77B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FIUB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274320"/>
            <a:ext cx="1427892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6928"/>
            <a:ext cx="99971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A8E1"/>
                </a:solidFill>
              </a:defRPr>
            </a:pPr>
            <a:r>
              <a:t>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50976"/>
            <a:ext cx="99971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21B2D"/>
                </a:solidFill>
              </a:defRPr>
            </a:pPr>
            <a:r>
              <a:t>Objetivos del proyecto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554480" cy="54864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Construir un pipeline RAG agéntico transparente, sin frameworks que resuelvan el flujo entero.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Cumplir todos los requisitos de la cátedra: FastAPI, ≥2 agentes con comunicación dinámica, RAG, seguridad, modelo preexistente, costo/latencia, evaluación.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Agregar registro / inicio de sesión y aislamiento por usuario.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Implementar guardrails propios (OWASP Top-10 LLM) y alineación constitucional.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Producir un informe técnico y métricas que demuestren que el diseño resuelve el problema.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1018001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00">
                <a:solidFill>
                  <a:srgbClr val="55606A"/>
                </a:solidFill>
              </a:defRPr>
            </a:pPr>
            <a:r>
              <a:t>FIUBA · PNL III · Knowledge Assistant · Grupo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48695" y="6437376"/>
            <a:ext cx="713232" cy="292608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 / 32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424"/>
              </a:gs>
              <a:gs pos="52000">
                <a:srgbClr val="101F35"/>
              </a:gs>
              <a:gs pos="100000">
                <a:srgbClr val="162A46"/>
              </a:gs>
            </a:gsLst>
            <a:lin ang="36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3246120"/>
            <a:ext cx="1280160" cy="73152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63721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A8E1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383280"/>
            <a:ext cx="106372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Arquitectura</a:t>
            </a:r>
          </a:p>
          <a:p>
            <a:pPr>
              <a:spcBef>
                <a:spcPts val="800"/>
              </a:spcBef>
              <a:defRPr sz="1800" i="1">
                <a:solidFill>
                  <a:srgbClr val="9FB6CC"/>
                </a:solidFill>
              </a:defRPr>
            </a:pPr>
            <a:r>
              <a:t>7 agentes, decisiones propias, RAG</a:t>
            </a:r>
          </a:p>
        </p:txBody>
      </p:sp>
      <p:pic>
        <p:nvPicPr>
          <p:cNvPr id="7" name="Picture 6" descr="logoFIUB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852160"/>
            <a:ext cx="1510270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473952"/>
            <a:ext cx="1018001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00">
                <a:solidFill>
                  <a:srgbClr val="55606A"/>
                </a:solidFill>
              </a:defRPr>
            </a:pPr>
            <a:r>
              <a:t>FIUBA · PNL III · Knowledge Assistant · Grupo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048695" y="6437376"/>
            <a:ext cx="713232" cy="292608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6 / 32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52000">
                <a:srgbClr val="F6F9FC"/>
              </a:gs>
              <a:gs pos="100000">
                <a:srgbClr val="ECF3F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gradFill rotWithShape="1">
            <a:gsLst>
              <a:gs pos="0">
                <a:srgbClr val="00A8E1"/>
              </a:gs>
              <a:gs pos="52000">
                <a:srgbClr val="1090CA"/>
              </a:gs>
              <a:gs pos="100000">
                <a:srgbClr val="1F77B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FIUB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274320"/>
            <a:ext cx="1427892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6928"/>
            <a:ext cx="99971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A8E1"/>
                </a:solidFill>
              </a:defRPr>
            </a:pPr>
            <a:r>
              <a:t>ARQUITECTURA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50976"/>
            <a:ext cx="99971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21B2D"/>
                </a:solidFill>
              </a:defRPr>
            </a:pPr>
            <a:r>
              <a:t>Arquitectura — 7 agentes en un grafo de estados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554480" cy="54864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00A8E1"/>
                </a:solidFill>
              </a:rPr>
              <a:t>▸  </a:t>
            </a:r>
            <a:r>
              <a:rPr sz="1500">
                <a:solidFill>
                  <a:srgbClr val="121B2D"/>
                </a:solidFill>
              </a:rPr>
              <a:t>Auth (FastAPI + JWT + SQLite) → emite token al cliente.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00A8E1"/>
                </a:solidFill>
              </a:rPr>
              <a:t>▸  </a:t>
            </a:r>
            <a:r>
              <a:rPr sz="1500">
                <a:solidFill>
                  <a:srgbClr val="121B2D"/>
                </a:solidFill>
              </a:rPr>
              <a:t>Cache semántico → corta circuitos de consultas repetidas.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00A8E1"/>
                </a:solidFill>
              </a:rPr>
              <a:t>▸  </a:t>
            </a:r>
            <a:r>
              <a:rPr sz="1500">
                <a:solidFill>
                  <a:srgbClr val="121B2D"/>
                </a:solidFill>
              </a:rPr>
              <a:t>GuardAgent (entrada) → injection scoring + PII redaction propios.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00A8E1"/>
                </a:solidFill>
              </a:rPr>
              <a:t>▸  </a:t>
            </a:r>
            <a:r>
              <a:rPr sz="1500">
                <a:solidFill>
                  <a:srgbClr val="121B2D"/>
                </a:solidFill>
              </a:rPr>
              <a:t>RouterAgent (MLP propio en PyTorch) → P(dominio | consulta).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00A8E1"/>
                </a:solidFill>
              </a:rPr>
              <a:t>▸  </a:t>
            </a:r>
            <a:r>
              <a:rPr sz="1500">
                <a:solidFill>
                  <a:srgbClr val="121B2D"/>
                </a:solidFill>
              </a:rPr>
              <a:t>RetrievalAgent → búsqueda ponderada Qdrant + reranker cross-encoder.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00A8E1"/>
                </a:solidFill>
              </a:rPr>
              <a:t>▸  </a:t>
            </a:r>
            <a:r>
              <a:rPr sz="1500">
                <a:solidFill>
                  <a:srgbClr val="121B2D"/>
                </a:solidFill>
              </a:rPr>
              <a:t>SynthesisAgent → LLM grounded sobre los chunks recuperados.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00A8E1"/>
                </a:solidFill>
              </a:rPr>
              <a:t>▸  </a:t>
            </a:r>
            <a:r>
              <a:rPr sz="1500">
                <a:solidFill>
                  <a:srgbClr val="121B2D"/>
                </a:solidFill>
              </a:rPr>
              <a:t>CriticAgent → evalúa fidelidad y dispara reintentos (comunicación dinámica).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00A8E1"/>
                </a:solidFill>
              </a:rPr>
              <a:t>▸  </a:t>
            </a:r>
            <a:r>
              <a:rPr sz="1500">
                <a:solidFill>
                  <a:srgbClr val="121B2D"/>
                </a:solidFill>
              </a:rPr>
              <a:t>GuardAgent (salida) → canary, leak markers, PII final.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00A8E1"/>
                </a:solidFill>
              </a:rPr>
              <a:t>▸  </a:t>
            </a:r>
            <a:r>
              <a:rPr sz="1500">
                <a:solidFill>
                  <a:srgbClr val="121B2D"/>
                </a:solidFill>
              </a:rPr>
              <a:t>ActionAgent → audit log estructurado + webhook opcional.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1018001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00">
                <a:solidFill>
                  <a:srgbClr val="55606A"/>
                </a:solidFill>
              </a:defRPr>
            </a:pPr>
            <a:r>
              <a:t>FIUBA · PNL III · Knowledge Assistant · Grupo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48695" y="6437376"/>
            <a:ext cx="713232" cy="292608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7 / 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52000">
                <a:srgbClr val="F6F9FC"/>
              </a:gs>
              <a:gs pos="100000">
                <a:srgbClr val="ECF3F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gradFill rotWithShape="1">
            <a:gsLst>
              <a:gs pos="0">
                <a:srgbClr val="00A8E1"/>
              </a:gs>
              <a:gs pos="52000">
                <a:srgbClr val="1090CA"/>
              </a:gs>
              <a:gs pos="100000">
                <a:srgbClr val="1F77B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FIUB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274320"/>
            <a:ext cx="1427892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6928"/>
            <a:ext cx="99971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A8E1"/>
                </a:solidFill>
              </a:defRPr>
            </a:pPr>
            <a:r>
              <a:t>ARQUITECTURA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50976"/>
            <a:ext cx="99971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21B2D"/>
                </a:solidFill>
              </a:defRPr>
            </a:pPr>
            <a:r>
              <a:t>Diagrama de arquitectura — pipeline de agentes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554480" cy="54864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47088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1F77B4"/>
                </a:solidFill>
              </a:defRPr>
            </a:pPr>
            <a:r>
              <a:t>Cada consulta recorre un grafo de estados de izquierda a derecha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2514600"/>
            <a:ext cx="1591056" cy="914400"/>
          </a:xfrm>
          <a:prstGeom prst="roundRect">
            <a:avLst/>
          </a:prstGeom>
          <a:solidFill>
            <a:srgbClr val="55606A"/>
          </a:solidFill>
          <a:ln>
            <a:noFill/>
          </a:ln>
          <a:effectLst>
            <a:outerShdw blurRad="762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Cliente</a:t>
            </a:r>
          </a:p>
          <a:p>
            <a:pPr algn="ctr">
              <a:defRPr sz="850">
                <a:solidFill>
                  <a:srgbClr val="EAF4FB"/>
                </a:solidFill>
              </a:defRPr>
            </a:pPr>
            <a:r>
              <a:t>request + JWT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2514600"/>
            <a:ext cx="1591056" cy="914400"/>
          </a:xfrm>
          <a:prstGeom prst="roundRect">
            <a:avLst/>
          </a:prstGeom>
          <a:solidFill>
            <a:srgbClr val="1F77B4"/>
          </a:solidFill>
          <a:ln>
            <a:noFill/>
          </a:ln>
          <a:effectLst>
            <a:outerShdw blurRad="762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Auth</a:t>
            </a:r>
          </a:p>
          <a:p>
            <a:pPr algn="ctr">
              <a:defRPr sz="850">
                <a:solidFill>
                  <a:srgbClr val="EAF4FB"/>
                </a:solidFill>
              </a:defRPr>
            </a:pPr>
            <a:r>
              <a:t>FastAPI · JWT · SQLite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2514600"/>
            <a:ext cx="1591056" cy="914400"/>
          </a:xfrm>
          <a:prstGeom prst="roundRect">
            <a:avLst/>
          </a:prstGeom>
          <a:solidFill>
            <a:srgbClr val="1F77B4"/>
          </a:solidFill>
          <a:ln>
            <a:noFill/>
          </a:ln>
          <a:effectLst>
            <a:outerShdw blurRad="762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Cache</a:t>
            </a:r>
          </a:p>
          <a:p>
            <a:pPr algn="ctr">
              <a:defRPr sz="850">
                <a:solidFill>
                  <a:srgbClr val="EAF4FB"/>
                </a:solidFill>
              </a:defRPr>
            </a:pPr>
            <a:r>
              <a:t>semántico Qdrant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2514600"/>
            <a:ext cx="1591056" cy="9144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>
            <a:outerShdw blurRad="762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Guard IN</a:t>
            </a:r>
          </a:p>
          <a:p>
            <a:pPr algn="ctr">
              <a:defRPr sz="850">
                <a:solidFill>
                  <a:srgbClr val="EAF4FB"/>
                </a:solidFill>
              </a:defRPr>
            </a:pPr>
            <a:r>
              <a:t>injection · PII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2514600"/>
            <a:ext cx="1591056" cy="9144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>
            <a:outerShdw blurRad="762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Router</a:t>
            </a:r>
          </a:p>
          <a:p>
            <a:pPr algn="ctr">
              <a:defRPr sz="850">
                <a:solidFill>
                  <a:srgbClr val="EAF4FB"/>
                </a:solidFill>
              </a:defRPr>
            </a:pPr>
            <a:r>
              <a:t>MLP PyTorch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30384" y="2514600"/>
            <a:ext cx="1591056" cy="9144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>
            <a:outerShdw blurRad="762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Retrieval</a:t>
            </a:r>
          </a:p>
          <a:p>
            <a:pPr algn="ctr">
              <a:defRPr sz="850">
                <a:solidFill>
                  <a:srgbClr val="EAF4FB"/>
                </a:solidFill>
              </a:defRPr>
            </a:pPr>
            <a:r>
              <a:t>Qdrant + reranker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30384" y="4224528"/>
            <a:ext cx="1591056" cy="9144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>
            <a:outerShdw blurRad="762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Synthesis</a:t>
            </a:r>
          </a:p>
          <a:p>
            <a:pPr algn="ctr">
              <a:defRPr sz="850">
                <a:solidFill>
                  <a:srgbClr val="EAF4FB"/>
                </a:solidFill>
              </a:defRPr>
            </a:pPr>
            <a:r>
              <a:t>LLM grounded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4224528"/>
            <a:ext cx="1591056" cy="9144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>
            <a:outerShdw blurRad="762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Critic</a:t>
            </a:r>
          </a:p>
          <a:p>
            <a:pPr algn="ctr">
              <a:defRPr sz="850">
                <a:solidFill>
                  <a:srgbClr val="EAF4FB"/>
                </a:solidFill>
              </a:defRPr>
            </a:pPr>
            <a:r>
              <a:t>fidelidad · retry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4224528"/>
            <a:ext cx="1591056" cy="9144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>
            <a:outerShdw blurRad="762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Guard OUT</a:t>
            </a:r>
          </a:p>
          <a:p>
            <a:pPr algn="ctr">
              <a:defRPr sz="850">
                <a:solidFill>
                  <a:srgbClr val="EAF4FB"/>
                </a:solidFill>
              </a:defRPr>
            </a:pPr>
            <a:r>
              <a:t>canary · PII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4256" y="4224528"/>
            <a:ext cx="1591056" cy="9144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>
            <a:outerShdw blurRad="762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Action</a:t>
            </a:r>
          </a:p>
          <a:p>
            <a:pPr algn="ctr">
              <a:defRPr sz="850">
                <a:solidFill>
                  <a:srgbClr val="EAF4FB"/>
                </a:solidFill>
              </a:defRPr>
            </a:pPr>
            <a:r>
              <a:t>audit log · webhook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68880" y="4224528"/>
            <a:ext cx="1591056" cy="914400"/>
          </a:xfrm>
          <a:prstGeom prst="roundRect">
            <a:avLst/>
          </a:prstGeom>
          <a:solidFill>
            <a:srgbClr val="55606A"/>
          </a:solidFill>
          <a:ln>
            <a:noFill/>
          </a:ln>
          <a:effectLst>
            <a:outerShdw blurRad="762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Respuesta</a:t>
            </a:r>
          </a:p>
          <a:p>
            <a:pPr algn="ctr">
              <a:defRPr sz="850">
                <a:solidFill>
                  <a:srgbClr val="EAF4FB"/>
                </a:solidFill>
              </a:defRPr>
            </a:pPr>
            <a:r>
              <a:t>+ citas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221991" y="2871216"/>
            <a:ext cx="219456" cy="201168"/>
          </a:xfrm>
          <a:prstGeom prst="rightArrow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4087368" y="2871216"/>
            <a:ext cx="219456" cy="201168"/>
          </a:xfrm>
          <a:prstGeom prst="rightArrow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5952744" y="2871216"/>
            <a:ext cx="219456" cy="201168"/>
          </a:xfrm>
          <a:prstGeom prst="rightArrow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7818119" y="2871216"/>
            <a:ext cx="219456" cy="201168"/>
          </a:xfrm>
          <a:prstGeom prst="rightArrow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9683496" y="2871216"/>
            <a:ext cx="219456" cy="201168"/>
          </a:xfrm>
          <a:prstGeom prst="rightArrow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wn Arrow 24"/>
          <p:cNvSpPr/>
          <p:nvPr/>
        </p:nvSpPr>
        <p:spPr>
          <a:xfrm>
            <a:off x="10625328" y="3465576"/>
            <a:ext cx="201168" cy="548640"/>
          </a:xfrm>
          <a:prstGeom prst="downArrow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eft Arrow 25"/>
          <p:cNvSpPr/>
          <p:nvPr/>
        </p:nvSpPr>
        <p:spPr>
          <a:xfrm>
            <a:off x="9683496" y="4581144"/>
            <a:ext cx="219456" cy="201168"/>
          </a:xfrm>
          <a:prstGeom prst="leftArrow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eft Arrow 26"/>
          <p:cNvSpPr/>
          <p:nvPr/>
        </p:nvSpPr>
        <p:spPr>
          <a:xfrm>
            <a:off x="7818119" y="4581144"/>
            <a:ext cx="219456" cy="201168"/>
          </a:xfrm>
          <a:prstGeom prst="leftArrow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eft Arrow 27"/>
          <p:cNvSpPr/>
          <p:nvPr/>
        </p:nvSpPr>
        <p:spPr>
          <a:xfrm>
            <a:off x="5952744" y="4581144"/>
            <a:ext cx="219456" cy="201168"/>
          </a:xfrm>
          <a:prstGeom prst="leftArrow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Left Arrow 28"/>
          <p:cNvSpPr/>
          <p:nvPr/>
        </p:nvSpPr>
        <p:spPr>
          <a:xfrm>
            <a:off x="4087368" y="4581144"/>
            <a:ext cx="219456" cy="201168"/>
          </a:xfrm>
          <a:prstGeom prst="leftArrow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 flipV="1">
            <a:off x="9306031" y="3429000"/>
            <a:ext cx="0" cy="795528"/>
          </a:xfrm>
          <a:prstGeom prst="bentConnector3">
            <a:avLst/>
          </a:prstGeom>
          <a:ln w="22225">
            <a:solidFill>
              <a:srgbClr val="F59E0B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156448" y="3447288"/>
            <a:ext cx="21396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 b="1">
                <a:solidFill>
                  <a:srgbClr val="F59E0B"/>
                </a:solidFill>
              </a:defRPr>
            </a:pPr>
            <a:r>
              <a:t>retry ≤ 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550407"/>
            <a:ext cx="182880" cy="182880"/>
          </a:xfrm>
          <a:prstGeom prst="roundRect">
            <a:avLst/>
          </a:prstGeom>
          <a:solidFill>
            <a:srgbClr val="556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5495544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6A"/>
                </a:solidFill>
              </a:defRPr>
            </a:pPr>
            <a:r>
              <a:t>Cliente / Salida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88920" y="5550407"/>
            <a:ext cx="182880" cy="182880"/>
          </a:xfrm>
          <a:prstGeom prst="round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26663" y="5495544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6A"/>
                </a:solidFill>
              </a:defRPr>
            </a:pPr>
            <a:r>
              <a:t>Infra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31335" y="5550407"/>
            <a:ext cx="182880" cy="1828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69079" y="5495544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6A"/>
                </a:solidFill>
              </a:defRPr>
            </a:pPr>
            <a:r>
              <a:t>Seguridad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276088" y="5550407"/>
            <a:ext cx="182880" cy="1828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13831" y="5495544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6A"/>
                </a:solidFill>
              </a:defRPr>
            </a:pPr>
            <a:r>
              <a:t>Agentes 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6473952"/>
            <a:ext cx="1018001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00">
                <a:solidFill>
                  <a:srgbClr val="55606A"/>
                </a:solidFill>
              </a:defRPr>
            </a:pPr>
            <a:r>
              <a:t>FIUBA · PNL III · Knowledge Assistant · Grupo 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048695" y="6437376"/>
            <a:ext cx="713232" cy="292608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8 / 32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52000">
                <a:srgbClr val="F6F9FC"/>
              </a:gs>
              <a:gs pos="100000">
                <a:srgbClr val="ECF3F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gradFill rotWithShape="1">
            <a:gsLst>
              <a:gs pos="0">
                <a:srgbClr val="00A8E1"/>
              </a:gs>
              <a:gs pos="52000">
                <a:srgbClr val="1090CA"/>
              </a:gs>
              <a:gs pos="100000">
                <a:srgbClr val="1F77B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FIUB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274320"/>
            <a:ext cx="1427892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6928"/>
            <a:ext cx="99971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A8E1"/>
                </a:solidFill>
              </a:defRPr>
            </a:pPr>
            <a:r>
              <a:t>ARQUITECTURA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50976"/>
            <a:ext cx="99971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21B2D"/>
                </a:solidFill>
              </a:defRPr>
            </a:pPr>
            <a:r>
              <a:t>Decisiones propias de diseño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554480" cy="54864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47088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1F77B4"/>
                </a:solidFill>
              </a:defRPr>
            </a:pPr>
            <a:r>
              <a:t>Sin frameworks que resuelvan el flujo completo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MLP en PyTorch entrenado sobre embeddings all-MiniLM-L6-v2 (50 epochs).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Retrieval ponderado: Score = P(c|q) · sim(q,d) → personaliza la búsqueda al dominio dominante.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Reranker cross-encoder ms-marco-MiniLM-L6 sobre top-10 → top-5 final.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Critic-loop con max_retries=2 y refinamiento de query (comunicación inter-agente).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Multi-provider registry: Gemini → Claude → Groq → OpenRouter → Kimi → Ollama.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Cache semántico Qdrant a 0.95 cosine, TTL 1 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1018001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00">
                <a:solidFill>
                  <a:srgbClr val="55606A"/>
                </a:solidFill>
              </a:defRPr>
            </a:pPr>
            <a:r>
              <a:t>FIUBA · PNL III · Knowledge Assistant · Grupo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048695" y="6437376"/>
            <a:ext cx="713232" cy="292608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9 / 32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52000">
                <a:srgbClr val="F6F9FC"/>
              </a:gs>
              <a:gs pos="100000">
                <a:srgbClr val="ECF3F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gradFill rotWithShape="1">
            <a:gsLst>
              <a:gs pos="0">
                <a:srgbClr val="00A8E1"/>
              </a:gs>
              <a:gs pos="52000">
                <a:srgbClr val="1090CA"/>
              </a:gs>
              <a:gs pos="100000">
                <a:srgbClr val="1F77B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FIUB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274320"/>
            <a:ext cx="1427892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6928"/>
            <a:ext cx="99971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A8E1"/>
                </a:solidFill>
              </a:defRPr>
            </a:pPr>
            <a:r>
              <a:t>ARQUITECTURA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50976"/>
            <a:ext cx="99971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21B2D"/>
                </a:solidFill>
              </a:defRPr>
            </a:pPr>
            <a:r>
              <a:t>Flujo RAG — recuperación en dos etapas + critic loop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554480" cy="54864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47088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1F77B4"/>
                </a:solidFill>
              </a:defRPr>
            </a:pPr>
            <a:r>
              <a:t>Del texto de la consulta a una respuesta fundamentada y verificada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2697480"/>
            <a:ext cx="1627632" cy="1051560"/>
          </a:xfrm>
          <a:prstGeom prst="roundRect">
            <a:avLst/>
          </a:prstGeom>
          <a:solidFill>
            <a:srgbClr val="55606A"/>
          </a:solidFill>
          <a:ln>
            <a:noFill/>
          </a:ln>
          <a:effectLst>
            <a:outerShdw blurRad="762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Consulta</a:t>
            </a:r>
          </a:p>
          <a:p>
            <a:pPr algn="ctr">
              <a:defRPr sz="850">
                <a:solidFill>
                  <a:srgbClr val="EAF4FB"/>
                </a:solidFill>
              </a:defRPr>
            </a:pPr>
            <a:r>
              <a:t>texto del usuario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05456" y="2697480"/>
            <a:ext cx="1627632" cy="10515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>
            <a:outerShdw blurRad="762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Router MLP</a:t>
            </a:r>
          </a:p>
          <a:p>
            <a:pPr algn="ctr">
              <a:defRPr sz="850">
                <a:solidFill>
                  <a:srgbClr val="EAF4FB"/>
                </a:solidFill>
              </a:defRPr>
            </a:pPr>
            <a:r>
              <a:t>P(c | q) · 3 dominios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2697480"/>
            <a:ext cx="1627632" cy="1051560"/>
          </a:xfrm>
          <a:prstGeom prst="roundRect">
            <a:avLst/>
          </a:prstGeom>
          <a:solidFill>
            <a:srgbClr val="1F77B4"/>
          </a:solidFill>
          <a:ln>
            <a:noFill/>
          </a:ln>
          <a:effectLst>
            <a:outerShdw blurRad="762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Qdrant</a:t>
            </a:r>
          </a:p>
          <a:p>
            <a:pPr algn="ctr">
              <a:defRPr sz="850">
                <a:solidFill>
                  <a:srgbClr val="EAF4FB"/>
                </a:solidFill>
              </a:defRPr>
            </a:pPr>
            <a:r>
              <a:t>Score = P(c|q)·sim</a:t>
            </a:r>
            <a:br/>
            <a:r>
              <a:t>top-10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697480"/>
            <a:ext cx="1627632" cy="1051560"/>
          </a:xfrm>
          <a:prstGeom prst="roundRect">
            <a:avLst/>
          </a:prstGeom>
          <a:solidFill>
            <a:srgbClr val="1F77B4"/>
          </a:solidFill>
          <a:ln>
            <a:noFill/>
          </a:ln>
          <a:effectLst>
            <a:outerShdw blurRad="762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Reranker</a:t>
            </a:r>
          </a:p>
          <a:p>
            <a:pPr algn="ctr">
              <a:defRPr sz="850">
                <a:solidFill>
                  <a:srgbClr val="EAF4FB"/>
                </a:solidFill>
              </a:defRPr>
            </a:pPr>
            <a:r>
              <a:t>cross-encoder</a:t>
            </a:r>
            <a:br/>
            <a:r>
              <a:t>top-10 → top-5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2697480"/>
            <a:ext cx="1627632" cy="1051560"/>
          </a:xfrm>
          <a:prstGeom prst="roundRect">
            <a:avLst/>
          </a:prstGeom>
          <a:solidFill>
            <a:srgbClr val="6D5AE0"/>
          </a:solidFill>
          <a:ln>
            <a:noFill/>
          </a:ln>
          <a:effectLst>
            <a:outerShdw blurRad="762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Synthesis</a:t>
            </a:r>
          </a:p>
          <a:p>
            <a:pPr algn="ctr">
              <a:defRPr sz="850">
                <a:solidFill>
                  <a:srgbClr val="EAF4FB"/>
                </a:solidFill>
              </a:defRPr>
            </a:pPr>
            <a:r>
              <a:t>LLM grounded</a:t>
            </a:r>
            <a:br/>
            <a:r>
              <a:t>sobre 5 chunks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13264" y="2697480"/>
            <a:ext cx="1627632" cy="1051560"/>
          </a:xfrm>
          <a:prstGeom prst="roundRect">
            <a:avLst/>
          </a:prstGeom>
          <a:solidFill>
            <a:srgbClr val="55606A"/>
          </a:solidFill>
          <a:ln>
            <a:noFill/>
          </a:ln>
          <a:effectLst>
            <a:outerShdw blurRad="762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Respuesta</a:t>
            </a:r>
          </a:p>
          <a:p>
            <a:pPr algn="ctr">
              <a:defRPr sz="850">
                <a:solidFill>
                  <a:srgbClr val="EAF4FB"/>
                </a:solidFill>
              </a:defRPr>
            </a:pPr>
            <a:r>
              <a:t>+ citas a archivos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258568" y="3122676"/>
            <a:ext cx="219456" cy="201168"/>
          </a:xfrm>
          <a:prstGeom prst="rightArrow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4160520" y="3122676"/>
            <a:ext cx="219456" cy="201168"/>
          </a:xfrm>
          <a:prstGeom prst="rightArrow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6062472" y="3122676"/>
            <a:ext cx="219456" cy="201168"/>
          </a:xfrm>
          <a:prstGeom prst="rightArrow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7964423" y="3122676"/>
            <a:ext cx="219456" cy="201168"/>
          </a:xfrm>
          <a:prstGeom prst="rightArrow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9866376" y="3122676"/>
            <a:ext cx="219456" cy="201168"/>
          </a:xfrm>
          <a:prstGeom prst="rightArrow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11312" y="4617720"/>
            <a:ext cx="1627632" cy="7315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>
            <a:outerShdw blurRad="762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Critic</a:t>
            </a:r>
          </a:p>
          <a:p>
            <a:pPr algn="ctr">
              <a:defRPr sz="850">
                <a:solidFill>
                  <a:srgbClr val="EAF4FB"/>
                </a:solidFill>
              </a:defRPr>
            </a:pPr>
            <a:r>
              <a:t>faithfulness ≥ τ</a:t>
            </a:r>
          </a:p>
        </p:txBody>
      </p:sp>
      <p:sp>
        <p:nvSpPr>
          <p:cNvPr id="21" name="Up Arrow 20"/>
          <p:cNvSpPr/>
          <p:nvPr/>
        </p:nvSpPr>
        <p:spPr>
          <a:xfrm>
            <a:off x="8924544" y="3803903"/>
            <a:ext cx="201168" cy="758952"/>
          </a:xfrm>
          <a:prstGeom prst="upArrow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5221224" y="3749039"/>
            <a:ext cx="2990088" cy="1234441"/>
          </a:xfrm>
          <a:prstGeom prst="bentConnector3">
            <a:avLst/>
          </a:prstGeom>
          <a:ln w="22225">
            <a:solidFill>
              <a:srgbClr val="F59E0B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312664" y="4206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 b="1">
                <a:solidFill>
                  <a:srgbClr val="F59E0B"/>
                </a:solidFill>
              </a:defRPr>
            </a:pPr>
            <a:r>
              <a:t>refina la query (≤ 2 reintentos)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824727"/>
            <a:ext cx="182880" cy="182880"/>
          </a:xfrm>
          <a:prstGeom prst="roundRect">
            <a:avLst/>
          </a:prstGeom>
          <a:solidFill>
            <a:srgbClr val="556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5769864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6A"/>
                </a:solidFill>
              </a:defRPr>
            </a:pPr>
            <a:r>
              <a:t>Entrada / Salida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88920" y="5824727"/>
            <a:ext cx="182880" cy="1828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26663" y="5769864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6A"/>
                </a:solidFill>
              </a:defRPr>
            </a:pPr>
            <a:r>
              <a:t>Agentes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32504" y="5824727"/>
            <a:ext cx="182880" cy="182880"/>
          </a:xfrm>
          <a:prstGeom prst="round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70248" y="5769864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6A"/>
                </a:solidFill>
              </a:defRPr>
            </a:pPr>
            <a:r>
              <a:t>Recuperación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79008" y="5824727"/>
            <a:ext cx="182880" cy="182880"/>
          </a:xfrm>
          <a:prstGeom prst="roundRect">
            <a:avLst/>
          </a:prstGeom>
          <a:solidFill>
            <a:srgbClr val="6D5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16752" y="5769864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606A"/>
                </a:solidFill>
              </a:defRPr>
            </a:pPr>
            <a:r>
              <a:t>Generación LLM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73952"/>
            <a:ext cx="1018001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00">
                <a:solidFill>
                  <a:srgbClr val="55606A"/>
                </a:solidFill>
              </a:defRPr>
            </a:pPr>
            <a:r>
              <a:t>FIUBA · PNL III · Knowledge Assistant · Grupo 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048695" y="6437376"/>
            <a:ext cx="713232" cy="292608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10 / 32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52000">
                <a:srgbClr val="F6F9FC"/>
              </a:gs>
              <a:gs pos="100000">
                <a:srgbClr val="ECF3F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gradFill rotWithShape="1">
            <a:gsLst>
              <a:gs pos="0">
                <a:srgbClr val="00A8E1"/>
              </a:gs>
              <a:gs pos="52000">
                <a:srgbClr val="1090CA"/>
              </a:gs>
              <a:gs pos="100000">
                <a:srgbClr val="1F77B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FIUB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274320"/>
            <a:ext cx="1427892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6928"/>
            <a:ext cx="99971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A8E1"/>
                </a:solidFill>
              </a:defRPr>
            </a:pPr>
            <a:r>
              <a:t>ARQUITECTURA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50976"/>
            <a:ext cx="99971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21B2D"/>
                </a:solidFill>
              </a:defRPr>
            </a:pPr>
            <a:r>
              <a:t>Router MLP — clasificador propio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554480" cy="54864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Arquitectura: Linear(384) → ReLU → Dropout(0.3) → Linear(128) → 3 clases (Science / Software / User).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Devuelve distribución de probabilidades, no etiqueta dura.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Evita fallos catastróficos: si la confianza &gt; 0.8 elige tier rápido del LLM (ahorro de costo).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Si Science &gt; 0.4 inyecta contexto ambiental vía MCP weather tool.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Entrenable en &lt; 1 minuto sobre el corpus completo.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1018001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00">
                <a:solidFill>
                  <a:srgbClr val="55606A"/>
                </a:solidFill>
              </a:defRPr>
            </a:pPr>
            <a:r>
              <a:t>FIUBA · PNL III · Knowledge Assistant · Grupo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48695" y="6437376"/>
            <a:ext cx="713232" cy="292608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11 / 32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52000">
                <a:srgbClr val="F6F9FC"/>
              </a:gs>
              <a:gs pos="100000">
                <a:srgbClr val="ECF3F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gradFill rotWithShape="1">
            <a:gsLst>
              <a:gs pos="0">
                <a:srgbClr val="00A8E1"/>
              </a:gs>
              <a:gs pos="52000">
                <a:srgbClr val="1090CA"/>
              </a:gs>
              <a:gs pos="100000">
                <a:srgbClr val="1F77B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FIUB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274320"/>
            <a:ext cx="1427892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6928"/>
            <a:ext cx="99971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A8E1"/>
                </a:solidFill>
              </a:defRPr>
            </a:pPr>
            <a:r>
              <a:t>ARQUITECTURA · EVIDENCIA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50976"/>
            <a:ext cx="99971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21B2D"/>
                </a:solidFill>
              </a:defRPr>
            </a:pPr>
            <a:r>
              <a:t>API — FastAPI + OpenAPI 3.1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554480" cy="54864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47088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1F77B4"/>
                </a:solidFill>
              </a:defRPr>
            </a:pPr>
            <a:r>
              <a:t>Superficie real de la API levantada en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00A8E1"/>
                </a:solidFill>
              </a:rPr>
              <a:t>▸  </a:t>
            </a:r>
            <a:r>
              <a:rPr sz="1500">
                <a:solidFill>
                  <a:srgbClr val="121B2D"/>
                </a:solidFill>
              </a:rPr>
              <a:t>8 endpoints REST autodocumentados en Swagger UI.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00A8E1"/>
                </a:solidFill>
              </a:rPr>
              <a:t>▸  </a:t>
            </a:r>
            <a:r>
              <a:rPr sz="1500">
                <a:solidFill>
                  <a:srgbClr val="121B2D"/>
                </a:solidFill>
              </a:rPr>
              <a:t>auth/ protegido con candado JWT; /query y /me/queries exigen token.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00A8E1"/>
                </a:solidFill>
              </a:rPr>
              <a:t>▸  </a:t>
            </a:r>
            <a:r>
              <a:rPr sz="1500">
                <a:solidFill>
                  <a:srgbClr val="121B2D"/>
                </a:solidFill>
              </a:rPr>
              <a:t>Esquemas Pydantic tipados: QueryRequest/Response, Token, UserPublic…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00A8E1"/>
                </a:solidFill>
              </a:rPr>
              <a:t>▸  </a:t>
            </a:r>
            <a:r>
              <a:rPr sz="1500">
                <a:solidFill>
                  <a:srgbClr val="121B2D"/>
                </a:solidFill>
              </a:rPr>
              <a:t>Contrato OpenAPI 3.1: cliente y tests salen del mismo spec.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5999" y="1792223"/>
            <a:ext cx="4475920" cy="4736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6"/>
            </a:solidFill>
          </a:ln>
          <a:effectLst>
            <a:outerShdw blurRad="114300" dist="63500" dir="5400000" rotWithShape="0">
              <a:srgbClr val="00000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-swagger-do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8295" y="1874519"/>
            <a:ext cx="4311328" cy="457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6473952"/>
            <a:ext cx="1018001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00">
                <a:solidFill>
                  <a:srgbClr val="55606A"/>
                </a:solidFill>
              </a:defRPr>
            </a:pPr>
            <a:r>
              <a:t>FIUBA · PNL III · Knowledge Assistant · Grupo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048695" y="6437376"/>
            <a:ext cx="713232" cy="292608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12 / 32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424"/>
              </a:gs>
              <a:gs pos="52000">
                <a:srgbClr val="101F35"/>
              </a:gs>
              <a:gs pos="100000">
                <a:srgbClr val="162A46"/>
              </a:gs>
            </a:gsLst>
            <a:lin ang="36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3246120"/>
            <a:ext cx="1280160" cy="73152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63721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A8E1"/>
                </a:solidFill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383280"/>
            <a:ext cx="106372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Seguridad</a:t>
            </a:r>
          </a:p>
          <a:p>
            <a:pPr>
              <a:spcBef>
                <a:spcPts val="800"/>
              </a:spcBef>
              <a:defRPr sz="1800" i="1">
                <a:solidFill>
                  <a:srgbClr val="9FB6CC"/>
                </a:solidFill>
              </a:defRPr>
            </a:pPr>
            <a:r>
              <a:t>OWASP Top-10 LLM + multi-tenancy</a:t>
            </a:r>
          </a:p>
        </p:txBody>
      </p:sp>
      <p:pic>
        <p:nvPicPr>
          <p:cNvPr id="7" name="Picture 6" descr="logoFIUB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852160"/>
            <a:ext cx="1510270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473952"/>
            <a:ext cx="1018001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00">
                <a:solidFill>
                  <a:srgbClr val="55606A"/>
                </a:solidFill>
              </a:defRPr>
            </a:pPr>
            <a:r>
              <a:t>FIUBA · PNL III · Knowledge Assistant · Grupo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048695" y="6437376"/>
            <a:ext cx="713232" cy="292608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13 / 32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52000">
                <a:srgbClr val="F6F9FC"/>
              </a:gs>
              <a:gs pos="100000">
                <a:srgbClr val="ECF3F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gradFill rotWithShape="1">
            <a:gsLst>
              <a:gs pos="0">
                <a:srgbClr val="00A8E1"/>
              </a:gs>
              <a:gs pos="52000">
                <a:srgbClr val="1090CA"/>
              </a:gs>
              <a:gs pos="100000">
                <a:srgbClr val="1F77B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FIUB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274320"/>
            <a:ext cx="1427892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6928"/>
            <a:ext cx="99971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A8E1"/>
                </a:solidFill>
              </a:defRPr>
            </a:pPr>
            <a:r>
              <a:t>SEGURIDAD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50976"/>
            <a:ext cx="99971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21B2D"/>
                </a:solidFill>
              </a:defRPr>
            </a:pPr>
            <a:r>
              <a:t>Seguridad: OWASP Top-10 LLM 2025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554480" cy="54864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47088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1F77B4"/>
                </a:solidFill>
              </a:defRPr>
            </a:pPr>
            <a:r>
              <a:t>Defensa en profundidad, código propio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00A8E1"/>
                </a:solidFill>
              </a:rPr>
              <a:t>▸  </a:t>
            </a:r>
            <a:r>
              <a:rPr sz="1500">
                <a:solidFill>
                  <a:srgbClr val="121B2D"/>
                </a:solidFill>
              </a:rPr>
              <a:t>LLM01 Prompt Injection — injection_scorer.py (heurística + canary).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00A8E1"/>
                </a:solidFill>
              </a:rPr>
              <a:t>▸  </a:t>
            </a:r>
            <a:r>
              <a:rPr sz="1500">
                <a:solidFill>
                  <a:srgbClr val="121B2D"/>
                </a:solidFill>
              </a:rPr>
              <a:t>LLM02 Insecure Output — validación de salida + redacción PII de salida.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00A8E1"/>
                </a:solidFill>
              </a:rPr>
              <a:t>▸  </a:t>
            </a:r>
            <a:r>
              <a:rPr sz="1500">
                <a:solidFill>
                  <a:srgbClr val="121B2D"/>
                </a:solidFill>
              </a:rPr>
              <a:t>LLM04 DoS — sliding-window limiter + cuota diaria por usuario.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00A8E1"/>
                </a:solidFill>
              </a:rPr>
              <a:t>▸  </a:t>
            </a:r>
            <a:r>
              <a:rPr sz="1500">
                <a:solidFill>
                  <a:srgbClr val="121B2D"/>
                </a:solidFill>
              </a:rPr>
              <a:t>LLM06 Sensitive Info — pii_redactor.py (email, DNI, CUIT, teléfono, IP, API keys).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00A8E1"/>
                </a:solidFill>
              </a:rPr>
              <a:t>▸  </a:t>
            </a:r>
            <a:r>
              <a:rPr sz="1500">
                <a:solidFill>
                  <a:srgbClr val="121B2D"/>
                </a:solidFill>
              </a:rPr>
              <a:t>LLM07 Insecure Plugins — sandbox del MCP + timeouts en webhook.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00A8E1"/>
                </a:solidFill>
              </a:rPr>
              <a:t>▸  </a:t>
            </a:r>
            <a:r>
              <a:rPr sz="1500">
                <a:solidFill>
                  <a:srgbClr val="121B2D"/>
                </a:solidFill>
              </a:rPr>
              <a:t>LLM08 Excessive Agency — el ActionAgent solo escribe logs y dispara webhooks read-only.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00A8E1"/>
                </a:solidFill>
              </a:rPr>
              <a:t>▸  </a:t>
            </a:r>
            <a:r>
              <a:rPr sz="1500">
                <a:solidFill>
                  <a:srgbClr val="121B2D"/>
                </a:solidFill>
              </a:rPr>
              <a:t>LLM10 Model Theft — rate limit + cuota + watermark futuro.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1018001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00">
                <a:solidFill>
                  <a:srgbClr val="55606A"/>
                </a:solidFill>
              </a:defRPr>
            </a:pPr>
            <a:r>
              <a:t>FIUBA · PNL III · Knowledge Assistant · Grupo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048695" y="6437376"/>
            <a:ext cx="713232" cy="292608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14 / 32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52000">
                <a:srgbClr val="F6F9FC"/>
              </a:gs>
              <a:gs pos="100000">
                <a:srgbClr val="ECF3F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gradFill rotWithShape="1">
            <a:gsLst>
              <a:gs pos="0">
                <a:srgbClr val="00A8E1"/>
              </a:gs>
              <a:gs pos="52000">
                <a:srgbClr val="1090CA"/>
              </a:gs>
              <a:gs pos="100000">
                <a:srgbClr val="1F77B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FIUB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274320"/>
            <a:ext cx="1427892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6928"/>
            <a:ext cx="99971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A8E1"/>
                </a:solidFill>
              </a:defRPr>
            </a:pPr>
            <a:r>
              <a:t>SEGURIDAD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50976"/>
            <a:ext cx="99971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21B2D"/>
                </a:solidFill>
              </a:defRPr>
            </a:pPr>
            <a:r>
              <a:t>Detección de prompt injection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554480" cy="54864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Reglas regex con peso (1.0–1.2 para overrides, 0.4–0.6 para señales débiles).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Score saturante: s = 1 − exp(−Σ pesos) ∈ [0,1].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Decisión: ≥ 0.70 bloquea, ≥ 0.40 marca, &lt; 0.40 deja pasar.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Cubre EN/ES: 'ignore previous', 'olvida las reglas', 'modo desarrollador', DAN, 'reveal prompt'…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Trazabilidad total: matched_rules se loguea por consulta (auditable, defendible).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Canary token (signed-prompt) bloquea fugas de system prompt.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1018001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00">
                <a:solidFill>
                  <a:srgbClr val="55606A"/>
                </a:solidFill>
              </a:defRPr>
            </a:pPr>
            <a:r>
              <a:t>FIUBA · PNL III · Knowledge Assistant · Grupo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48695" y="6437376"/>
            <a:ext cx="713232" cy="292608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15 / 32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52000">
                <a:srgbClr val="F6F9FC"/>
              </a:gs>
              <a:gs pos="100000">
                <a:srgbClr val="ECF3F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gradFill rotWithShape="1">
            <a:gsLst>
              <a:gs pos="0">
                <a:srgbClr val="00A8E1"/>
              </a:gs>
              <a:gs pos="52000">
                <a:srgbClr val="1090CA"/>
              </a:gs>
              <a:gs pos="100000">
                <a:srgbClr val="1F77B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FIUB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274320"/>
            <a:ext cx="1427892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6928"/>
            <a:ext cx="99971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A8E1"/>
                </a:solidFill>
              </a:defRPr>
            </a:pPr>
            <a:r>
              <a:t>SEGURIDAD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50976"/>
            <a:ext cx="99971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21B2D"/>
                </a:solidFill>
              </a:defRPr>
            </a:pPr>
            <a:r>
              <a:t>Autenticación y multi-tenancy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554480" cy="54864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47088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1F77B4"/>
                </a:solidFill>
              </a:defRPr>
            </a:pPr>
            <a:r>
              <a:t>Hand-rolled — sin fastapi-users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POST /auth/register · POST /auth/login · GET /auth/me — JWT HS256 (60 min).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Hash de passwords con bcrypt (passlib).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Roles: user / researcher / admin. RBAC en deps.py via require_role().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Cuota diaria por usuario + sliding-window de ráfagas (LLM04 mitigación).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Tabla query_records: cada consulta queda asociada al user_id (aislamiento).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session_id se prefijea con u&lt;id&gt;: para no compartir estado entre usuarios.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1018001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00">
                <a:solidFill>
                  <a:srgbClr val="55606A"/>
                </a:solidFill>
              </a:defRPr>
            </a:pPr>
            <a:r>
              <a:t>FIUBA · PNL III · Knowledge Assistant · Grupo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048695" y="6437376"/>
            <a:ext cx="713232" cy="292608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16 / 32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52000">
                <a:srgbClr val="F6F9FC"/>
              </a:gs>
              <a:gs pos="100000">
                <a:srgbClr val="ECF3F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gradFill rotWithShape="1">
            <a:gsLst>
              <a:gs pos="0">
                <a:srgbClr val="00A8E1"/>
              </a:gs>
              <a:gs pos="52000">
                <a:srgbClr val="1090CA"/>
              </a:gs>
              <a:gs pos="100000">
                <a:srgbClr val="1F77B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FIUB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274320"/>
            <a:ext cx="1427892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6928"/>
            <a:ext cx="99971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A8E1"/>
                </a:solidFill>
              </a:defRPr>
            </a:pPr>
            <a:r>
              <a:t>SEGURIDAD · EVIDENCIA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50976"/>
            <a:ext cx="99971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21B2D"/>
                </a:solidFill>
              </a:defRPr>
            </a:pPr>
            <a:r>
              <a:t>Autenticación — flujo real end-to-end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554480" cy="54864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47088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1F77B4"/>
                </a:solidFill>
              </a:defRPr>
            </a:pPr>
            <a:r>
              <a:t>Endpoints de usuario ejercitados de punta a punta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00A8E1"/>
                </a:solidFill>
              </a:rPr>
              <a:t>▸  </a:t>
            </a:r>
            <a:r>
              <a:rPr sz="1500">
                <a:solidFill>
                  <a:srgbClr val="121B2D"/>
                </a:solidFill>
              </a:rPr>
              <a:t>register → login → me → me/queries contra el server en vivo.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00A8E1"/>
                </a:solidFill>
              </a:rPr>
              <a:t>▸  </a:t>
            </a:r>
            <a:r>
              <a:rPr sz="1500">
                <a:solidFill>
                  <a:srgbClr val="121B2D"/>
                </a:solidFill>
              </a:rPr>
              <a:t>201 al crear el usuario; JWT HS256 con expires_in 60 min.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00A8E1"/>
                </a:solidFill>
              </a:rPr>
              <a:t>▸  </a:t>
            </a:r>
            <a:r>
              <a:rPr sz="1500">
                <a:solidFill>
                  <a:srgbClr val="121B2D"/>
                </a:solidFill>
              </a:rPr>
              <a:t>El perfil trae role, quota_queries_per_day y queries_today.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00A8E1"/>
                </a:solidFill>
              </a:rPr>
              <a:t>▸  </a:t>
            </a:r>
            <a:r>
              <a:rPr sz="1500">
                <a:solidFill>
                  <a:srgbClr val="121B2D"/>
                </a:solidFill>
              </a:rPr>
              <a:t>Historial vacío []: aislamiento por user_id desde la 1.ª consulta.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68747" y="1792223"/>
            <a:ext cx="3710424" cy="4736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6"/>
            </a:solidFill>
          </a:ln>
          <a:effectLst>
            <a:outerShdw blurRad="114300" dist="63500" dir="5400000" rotWithShape="0">
              <a:srgbClr val="00000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3-user-admin-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1043" y="1874519"/>
            <a:ext cx="3545832" cy="457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6473952"/>
            <a:ext cx="1018001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00">
                <a:solidFill>
                  <a:srgbClr val="55606A"/>
                </a:solidFill>
              </a:defRPr>
            </a:pPr>
            <a:r>
              <a:t>FIUBA · PNL III · Knowledge Assistant · Grupo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048695" y="6437376"/>
            <a:ext cx="713232" cy="292608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17 / 32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424"/>
              </a:gs>
              <a:gs pos="52000">
                <a:srgbClr val="101F35"/>
              </a:gs>
              <a:gs pos="100000">
                <a:srgbClr val="162A46"/>
              </a:gs>
            </a:gsLst>
            <a:lin ang="36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3246120"/>
            <a:ext cx="1280160" cy="73152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63721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A8E1"/>
                </a:solidFill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383280"/>
            <a:ext cx="106372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Alineación &amp; Gobernanza</a:t>
            </a:r>
          </a:p>
          <a:p>
            <a:pPr>
              <a:spcBef>
                <a:spcPts val="800"/>
              </a:spcBef>
              <a:defRPr sz="1800" i="1">
                <a:solidFill>
                  <a:srgbClr val="9FB6CC"/>
                </a:solidFill>
              </a:defRPr>
            </a:pPr>
            <a:r>
              <a:t>Constitutional AI, NIST, regulación</a:t>
            </a:r>
          </a:p>
        </p:txBody>
      </p:sp>
      <p:pic>
        <p:nvPicPr>
          <p:cNvPr id="7" name="Picture 6" descr="logoFIUB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852160"/>
            <a:ext cx="1510270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473952"/>
            <a:ext cx="1018001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00">
                <a:solidFill>
                  <a:srgbClr val="55606A"/>
                </a:solidFill>
              </a:defRPr>
            </a:pPr>
            <a:r>
              <a:t>FIUBA · PNL III · Knowledge Assistant · Grupo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048695" y="6437376"/>
            <a:ext cx="713232" cy="292608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18 / 32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52000">
                <a:srgbClr val="F6F9FC"/>
              </a:gs>
              <a:gs pos="100000">
                <a:srgbClr val="ECF3F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gradFill rotWithShape="1">
            <a:gsLst>
              <a:gs pos="0">
                <a:srgbClr val="00A8E1"/>
              </a:gs>
              <a:gs pos="52000">
                <a:srgbClr val="1090CA"/>
              </a:gs>
              <a:gs pos="100000">
                <a:srgbClr val="1F77B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FIUB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274320"/>
            <a:ext cx="1427892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6928"/>
            <a:ext cx="99971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A8E1"/>
                </a:solidFill>
              </a:defRPr>
            </a:pPr>
            <a:r>
              <a:t>ALINEACIÓN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50976"/>
            <a:ext cx="99971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21B2D"/>
                </a:solidFill>
              </a:defRPr>
            </a:pPr>
            <a:r>
              <a:t>Alineación: Constitutional AI propio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554480" cy="54864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00A8E1"/>
                </a:solidFill>
              </a:rPr>
              <a:t>▸  </a:t>
            </a:r>
            <a:r>
              <a:rPr sz="1400">
                <a:solidFill>
                  <a:srgbClr val="121B2D"/>
                </a:solidFill>
              </a:rPr>
              <a:t>constitution.yaml con 7 principios versionados: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55606A"/>
                </a:solidFill>
              </a:rPr>
              <a:t>•  </a:t>
            </a:r>
            <a:r>
              <a:rPr sz="1300">
                <a:solidFill>
                  <a:srgbClr val="55606A"/>
                </a:solidFill>
              </a:rPr>
              <a:t>P1 Grounded — toda afirmación debe apoyarse en chunks.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55606A"/>
                </a:solidFill>
              </a:rPr>
              <a:t>•  </a:t>
            </a:r>
            <a:r>
              <a:rPr sz="1300">
                <a:solidFill>
                  <a:srgbClr val="55606A"/>
                </a:solidFill>
              </a:rPr>
              <a:t>P2 No-PII — nunca emitir PII verbatim.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55606A"/>
                </a:solidFill>
              </a:rPr>
              <a:t>•  </a:t>
            </a:r>
            <a:r>
              <a:rPr sz="1300">
                <a:solidFill>
                  <a:srgbClr val="55606A"/>
                </a:solidFill>
              </a:rPr>
              <a:t>P3 Safety — no instrucciones que comprometan personas/infra.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55606A"/>
                </a:solidFill>
              </a:rPr>
              <a:t>•  </a:t>
            </a:r>
            <a:r>
              <a:rPr sz="1300">
                <a:solidFill>
                  <a:srgbClr val="55606A"/>
                </a:solidFill>
              </a:rPr>
              <a:t>P4 Honesty — expresar incertidumbre cuando no hay evidencia.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55606A"/>
                </a:solidFill>
              </a:rPr>
              <a:t>•  </a:t>
            </a:r>
            <a:r>
              <a:rPr sz="1300">
                <a:solidFill>
                  <a:srgbClr val="55606A"/>
                </a:solidFill>
              </a:rPr>
              <a:t>P5 Scope — declinar fuera de energía sostenible / smart-building.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55606A"/>
                </a:solidFill>
              </a:rPr>
              <a:t>•  </a:t>
            </a:r>
            <a:r>
              <a:rPr sz="1300">
                <a:solidFill>
                  <a:srgbClr val="55606A"/>
                </a:solidFill>
              </a:rPr>
              <a:t>P6 No-toxicity — respuestas respetuosas siempre.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55606A"/>
                </a:solidFill>
              </a:rPr>
              <a:t>•  </a:t>
            </a:r>
            <a:r>
              <a:rPr sz="1300">
                <a:solidFill>
                  <a:srgbClr val="55606A"/>
                </a:solidFill>
              </a:rPr>
              <a:t>P7 Transparency — citar siempre los documentos usados.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00A8E1"/>
                </a:solidFill>
              </a:rPr>
              <a:t>▸  </a:t>
            </a:r>
            <a:r>
              <a:rPr sz="1400">
                <a:solidFill>
                  <a:srgbClr val="121B2D"/>
                </a:solidFill>
              </a:rPr>
              <a:t>El CriticAgent evalúa cada respuesta contra los principios y dispara reintento si falla.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1018001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00">
                <a:solidFill>
                  <a:srgbClr val="55606A"/>
                </a:solidFill>
              </a:defRPr>
            </a:pPr>
            <a:r>
              <a:t>FIUBA · PNL III · Knowledge Assistant · Grupo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48695" y="6437376"/>
            <a:ext cx="713232" cy="292608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19 / 32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52000">
                <a:srgbClr val="F6F9FC"/>
              </a:gs>
              <a:gs pos="100000">
                <a:srgbClr val="ECF3F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gradFill rotWithShape="1">
            <a:gsLst>
              <a:gs pos="0">
                <a:srgbClr val="00A8E1"/>
              </a:gs>
              <a:gs pos="52000">
                <a:srgbClr val="1090CA"/>
              </a:gs>
              <a:gs pos="100000">
                <a:srgbClr val="1F77B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FIUB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274320"/>
            <a:ext cx="1427892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6928"/>
            <a:ext cx="99971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A8E1"/>
                </a:solidFill>
              </a:defRPr>
            </a:pPr>
            <a:r>
              <a:t>GOBERNANZA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50976"/>
            <a:ext cx="99971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21B2D"/>
                </a:solidFill>
              </a:defRPr>
            </a:pPr>
            <a:r>
              <a:t>NIST AI RMF — implementado en código vivo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554480" cy="54864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GOVERN: docs/governance/policy.md (roles, retención, autoridad de stop-the-line).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MAP: risk_register.md — 12 riesgos puntuados L × I, ligados a controles concretos.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MEASURE: /metrics expone faithfulness, blocked_by_guard_rate, pii_redacted_count, error_rate, latency.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MANAGE: incident_response.md — sev-1 a sev-4 con runbook reproducible.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Model Card (Mitchell et al. 2019) y Datasheet (Gebru et al. 2021) en docs/governance/.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1018001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00">
                <a:solidFill>
                  <a:srgbClr val="55606A"/>
                </a:solidFill>
              </a:defRPr>
            </a:pPr>
            <a:r>
              <a:t>FIUBA · PNL III · Knowledge Assistant · Grupo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48695" y="6437376"/>
            <a:ext cx="713232" cy="292608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20 / 32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52000">
                <a:srgbClr val="F6F9FC"/>
              </a:gs>
              <a:gs pos="100000">
                <a:srgbClr val="ECF3F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gradFill rotWithShape="1">
            <a:gsLst>
              <a:gs pos="0">
                <a:srgbClr val="00A8E1"/>
              </a:gs>
              <a:gs pos="52000">
                <a:srgbClr val="1090CA"/>
              </a:gs>
              <a:gs pos="100000">
                <a:srgbClr val="1F77B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FIUB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274320"/>
            <a:ext cx="1427892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6928"/>
            <a:ext cx="99971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A8E1"/>
                </a:solidFill>
              </a:defRPr>
            </a:pPr>
            <a:r>
              <a:t>GOBERNANZA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50976"/>
            <a:ext cx="99971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21B2D"/>
                </a:solidFill>
              </a:defRPr>
            </a:pPr>
            <a:r>
              <a:t>Marco regulatorio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554480" cy="54864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EU AI Act (2024): este sistema es 'limited risk' → deber de transparencia (cumplido vía citas).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NIST AI RMF 1.0: cuatro funciones implementadas (ver docs/governance).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Anthropic Responsible Scaling Policy: nuestro modelo opera a ASL-2.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Argentina: sin ley específica al 2026, pero seguimos OECD/UNESCO.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Privacidad: PII redactada antes y después del LLM; logs sin valores crudos.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1018001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00">
                <a:solidFill>
                  <a:srgbClr val="55606A"/>
                </a:solidFill>
              </a:defRPr>
            </a:pPr>
            <a:r>
              <a:t>FIUBA · PNL III · Knowledge Assistant · Grupo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48695" y="6437376"/>
            <a:ext cx="713232" cy="292608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21 / 32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424"/>
              </a:gs>
              <a:gs pos="52000">
                <a:srgbClr val="101F35"/>
              </a:gs>
              <a:gs pos="100000">
                <a:srgbClr val="162A46"/>
              </a:gs>
            </a:gsLst>
            <a:lin ang="36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3246120"/>
            <a:ext cx="1280160" cy="73152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63721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A8E1"/>
                </a:solidFill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383280"/>
            <a:ext cx="106372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Resultados</a:t>
            </a:r>
          </a:p>
          <a:p>
            <a:pPr>
              <a:spcBef>
                <a:spcPts val="800"/>
              </a:spcBef>
              <a:defRPr sz="1800" i="1">
                <a:solidFill>
                  <a:srgbClr val="9FB6CC"/>
                </a:solidFill>
              </a:defRPr>
            </a:pPr>
            <a:r>
              <a:t>Métricas, red-team, costo y demo</a:t>
            </a:r>
          </a:p>
        </p:txBody>
      </p:sp>
      <p:pic>
        <p:nvPicPr>
          <p:cNvPr id="7" name="Picture 6" descr="logoFIUB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852160"/>
            <a:ext cx="1510270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473952"/>
            <a:ext cx="1018001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00">
                <a:solidFill>
                  <a:srgbClr val="55606A"/>
                </a:solidFill>
              </a:defRPr>
            </a:pPr>
            <a:r>
              <a:t>FIUBA · PNL III · Knowledge Assistant · Grupo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048695" y="6437376"/>
            <a:ext cx="713232" cy="292608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22 / 32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52000">
                <a:srgbClr val="F6F9FC"/>
              </a:gs>
              <a:gs pos="100000">
                <a:srgbClr val="ECF3F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gradFill rotWithShape="1">
            <a:gsLst>
              <a:gs pos="0">
                <a:srgbClr val="00A8E1"/>
              </a:gs>
              <a:gs pos="52000">
                <a:srgbClr val="1090CA"/>
              </a:gs>
              <a:gs pos="100000">
                <a:srgbClr val="1F77B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FIUB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274320"/>
            <a:ext cx="1427892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6928"/>
            <a:ext cx="99971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A8E1"/>
                </a:solidFill>
              </a:defRPr>
            </a:pPr>
            <a:r>
              <a:t>RESULTADOS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50976"/>
            <a:ext cx="99971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21B2D"/>
                </a:solidFill>
              </a:defRPr>
            </a:pPr>
            <a:r>
              <a:t>Métricas y logs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554480" cy="54864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47088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1F77B4"/>
                </a:solidFill>
              </a:defRPr>
            </a:pPr>
            <a:r>
              <a:t>Lo que pidió la consigna: demostrar que el diseño funciona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00A8E1"/>
                </a:solidFill>
              </a:rPr>
              <a:t>▸  </a:t>
            </a:r>
            <a:r>
              <a:rPr sz="1400">
                <a:solidFill>
                  <a:srgbClr val="121B2D"/>
                </a:solidFill>
              </a:rPr>
              <a:t>Faithfulness (Ragas, LLM judge): proporción de claims apoyadas por contexto.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00A8E1"/>
                </a:solidFill>
              </a:rPr>
              <a:t>▸  </a:t>
            </a:r>
            <a:r>
              <a:rPr sz="1400">
                <a:solidFill>
                  <a:srgbClr val="121B2D"/>
                </a:solidFill>
              </a:rPr>
              <a:t>Context recall (Ragas): cobertura de los hechos esperados.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00A8E1"/>
                </a:solidFill>
              </a:rPr>
              <a:t>▸  </a:t>
            </a:r>
            <a:r>
              <a:rPr sz="1400">
                <a:solidFill>
                  <a:srgbClr val="121B2D"/>
                </a:solidFill>
              </a:rPr>
              <a:t>Precision@5: fracción de chunks del dominio esperado.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00A8E1"/>
                </a:solidFill>
              </a:rPr>
              <a:t>▸  </a:t>
            </a:r>
            <a:r>
              <a:rPr sz="1400">
                <a:solidFill>
                  <a:srgbClr val="121B2D"/>
                </a:solidFill>
              </a:rPr>
              <a:t>ROUGE-L F1 + similitud semántica bge-large-en.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00A8E1"/>
                </a:solidFill>
              </a:rPr>
              <a:t>▸  </a:t>
            </a:r>
            <a:r>
              <a:rPr sz="1400">
                <a:solidFill>
                  <a:srgbClr val="121B2D"/>
                </a:solidFill>
              </a:rPr>
              <a:t>Tiempos: retrieval_time_ms, total_latency_ms (p50, p95).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00A8E1"/>
                </a:solidFill>
              </a:rPr>
              <a:t>▸  </a:t>
            </a:r>
            <a:r>
              <a:rPr sz="1400">
                <a:solidFill>
                  <a:srgbClr val="121B2D"/>
                </a:solidFill>
              </a:rPr>
              <a:t>Costo aproximado: token_count * precio_por_token del proveedor.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00A8E1"/>
                </a:solidFill>
              </a:rPr>
              <a:t>▸  </a:t>
            </a:r>
            <a:r>
              <a:rPr sz="1400">
                <a:solidFill>
                  <a:srgbClr val="121B2D"/>
                </a:solidFill>
              </a:rPr>
              <a:t>Logs: logs/audit.jsonl + tabla query_records (per-user persistente).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00A8E1"/>
                </a:solidFill>
              </a:rPr>
              <a:t>▸  </a:t>
            </a:r>
            <a:r>
              <a:rPr sz="1400">
                <a:solidFill>
                  <a:srgbClr val="121B2D"/>
                </a:solidFill>
              </a:rPr>
              <a:t>Endpoint /metrics con tasa de bloqueo, PII detectada, rate-limit hits.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1018001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00">
                <a:solidFill>
                  <a:srgbClr val="55606A"/>
                </a:solidFill>
              </a:defRPr>
            </a:pPr>
            <a:r>
              <a:t>FIUBA · PNL III · Knowledge Assistant · Grupo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048695" y="6437376"/>
            <a:ext cx="713232" cy="292608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23 / 32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52000">
                <a:srgbClr val="F6F9FC"/>
              </a:gs>
              <a:gs pos="100000">
                <a:srgbClr val="ECF3F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gradFill rotWithShape="1">
            <a:gsLst>
              <a:gs pos="0">
                <a:srgbClr val="00A8E1"/>
              </a:gs>
              <a:gs pos="52000">
                <a:srgbClr val="1090CA"/>
              </a:gs>
              <a:gs pos="100000">
                <a:srgbClr val="1F77B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FIUB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274320"/>
            <a:ext cx="1427892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6928"/>
            <a:ext cx="99971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A8E1"/>
                </a:solidFill>
              </a:defRPr>
            </a:pPr>
            <a:r>
              <a:t>RESULTADOS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50976"/>
            <a:ext cx="99971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21B2D"/>
                </a:solidFill>
              </a:defRPr>
            </a:pPr>
            <a:r>
              <a:t>Red-team propio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554480" cy="54864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00A8E1"/>
                </a:solidFill>
              </a:rPr>
              <a:t>▸  </a:t>
            </a:r>
            <a:r>
              <a:rPr sz="1400">
                <a:solidFill>
                  <a:srgbClr val="121B2D"/>
                </a:solidFill>
              </a:rPr>
              <a:t>Suite de ataques propia en tests/test_security.py: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55606A"/>
                </a:solidFill>
              </a:rPr>
              <a:t>•  </a:t>
            </a:r>
            <a:r>
              <a:rPr sz="1300">
                <a:solidFill>
                  <a:srgbClr val="55606A"/>
                </a:solidFill>
              </a:rPr>
              <a:t>Direct override (EN/ES): 'ignore previous', 'olvida las reglas'.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55606A"/>
                </a:solidFill>
              </a:rPr>
              <a:t>•  </a:t>
            </a:r>
            <a:r>
              <a:rPr sz="1300">
                <a:solidFill>
                  <a:srgbClr val="55606A"/>
                </a:solidFill>
              </a:rPr>
              <a:t>Role swap: 'you are now DAN', 'modo desarrollador'.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55606A"/>
                </a:solidFill>
              </a:rPr>
              <a:t>•  </a:t>
            </a:r>
            <a:r>
              <a:rPr sz="1300">
                <a:solidFill>
                  <a:srgbClr val="55606A"/>
                </a:solidFill>
              </a:rPr>
              <a:t>System-prompt leak: 'reveal your prompt', 'muestra instrucciones'.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55606A"/>
                </a:solidFill>
              </a:rPr>
              <a:t>•  </a:t>
            </a:r>
            <a:r>
              <a:rPr sz="1300">
                <a:solidFill>
                  <a:srgbClr val="55606A"/>
                </a:solidFill>
              </a:rPr>
              <a:t>Secret exfil: 'output your api key'.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55606A"/>
                </a:solidFill>
              </a:rPr>
              <a:t>•  </a:t>
            </a:r>
            <a:r>
              <a:rPr sz="1300">
                <a:solidFill>
                  <a:srgbClr val="55606A"/>
                </a:solidFill>
              </a:rPr>
              <a:t>Adversarial noise / suffix.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55606A"/>
                </a:solidFill>
              </a:rPr>
              <a:t>•  </a:t>
            </a:r>
            <a:r>
              <a:rPr sz="1300">
                <a:solidFill>
                  <a:srgbClr val="55606A"/>
                </a:solidFill>
              </a:rPr>
              <a:t>PII fixtures (DNI, CUIT, email, IP).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00A8E1"/>
                </a:solidFill>
              </a:rPr>
              <a:t>▸  </a:t>
            </a:r>
            <a:r>
              <a:rPr sz="1400">
                <a:solidFill>
                  <a:srgbClr val="121B2D"/>
                </a:solidFill>
              </a:rPr>
              <a:t>Métrica objetivo: injection_block_rate ≥ 0.90 sobre la suite.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1018001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00">
                <a:solidFill>
                  <a:srgbClr val="55606A"/>
                </a:solidFill>
              </a:defRPr>
            </a:pPr>
            <a:r>
              <a:t>FIUBA · PNL III · Knowledge Assistant · Grupo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48695" y="6437376"/>
            <a:ext cx="713232" cy="292608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24 / 32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52000">
                <a:srgbClr val="F6F9FC"/>
              </a:gs>
              <a:gs pos="100000">
                <a:srgbClr val="ECF3F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gradFill rotWithShape="1">
            <a:gsLst>
              <a:gs pos="0">
                <a:srgbClr val="00A8E1"/>
              </a:gs>
              <a:gs pos="52000">
                <a:srgbClr val="1090CA"/>
              </a:gs>
              <a:gs pos="100000">
                <a:srgbClr val="1F77B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FIUB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274320"/>
            <a:ext cx="1427892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6928"/>
            <a:ext cx="99971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A8E1"/>
                </a:solidFill>
              </a:defRPr>
            </a:pPr>
            <a:r>
              <a:t>RESULTADOS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50976"/>
            <a:ext cx="99971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21B2D"/>
                </a:solidFill>
              </a:defRPr>
            </a:pPr>
            <a:r>
              <a:t>Optimización de costo y latencia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554480" cy="54864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Cache semántico Qdrant (≥ 0.95 cosine) → respuesta repetida ~ 0 ms y 0 tokens.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Tier de LLM dinámico: confianza &gt; 0.8 → modelo 'simple' (más barato).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Reranker reduce a top-5: el LLM ve 5 chunks, no 10.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Multi-provider: si Gemini se cae, fallback a Groq → Ollama (cero costo).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Sliding-window limiter evita gastos por bots.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Métrica: avg_latency_ms y cache_hit_rate visibles en /metrics.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1018001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00">
                <a:solidFill>
                  <a:srgbClr val="55606A"/>
                </a:solidFill>
              </a:defRPr>
            </a:pPr>
            <a:r>
              <a:t>FIUBA · PNL III · Knowledge Assistant · Grupo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48695" y="6437376"/>
            <a:ext cx="713232" cy="292608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25 / 32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52000">
                <a:srgbClr val="F6F9FC"/>
              </a:gs>
              <a:gs pos="100000">
                <a:srgbClr val="ECF3F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gradFill rotWithShape="1">
            <a:gsLst>
              <a:gs pos="0">
                <a:srgbClr val="00A8E1"/>
              </a:gs>
              <a:gs pos="52000">
                <a:srgbClr val="1090CA"/>
              </a:gs>
              <a:gs pos="100000">
                <a:srgbClr val="1F77B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FIUB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274320"/>
            <a:ext cx="1427892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6928"/>
            <a:ext cx="99971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A8E1"/>
                </a:solidFill>
              </a:defRPr>
            </a:pPr>
            <a:r>
              <a:t>RESULTADOS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50976"/>
            <a:ext cx="99971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21B2D"/>
                </a:solidFill>
              </a:defRPr>
            </a:pPr>
            <a:r>
              <a:t>Resultados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554480" cy="54864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47088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1F77B4"/>
                </a:solidFill>
              </a:defRPr>
            </a:pPr>
            <a:r>
              <a:t>API levantada + 6 queries reales contra OpenAI gpt-4o-mini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331720"/>
          <a:ext cx="10927080" cy="3886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7520"/>
                <a:gridCol w="7909560"/>
              </a:tblGrid>
              <a:tr h="431800"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Métrica / Prueba</a:t>
                      </a:r>
                    </a:p>
                  </a:txBody>
                  <a:tcPr marL="114300" marR="114300" marT="38100" marB="38100" anchor="ctr">
                    <a:solidFill>
                      <a:srgbClr val="00A8E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Resultado</a:t>
                      </a:r>
                    </a:p>
                  </a:txBody>
                  <a:tcPr marL="114300" marR="114300" marT="38100" marB="38100" anchor="ctr">
                    <a:solidFill>
                      <a:srgbClr val="00A8E1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121B2D"/>
                          </a:solidFill>
                        </a:defRPr>
                      </a:pPr>
                      <a:r>
                        <a:t>Test suite</a:t>
                      </a:r>
                    </a:p>
                  </a:txBody>
                  <a:tcPr marL="114300" marR="114300"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121B2D"/>
                          </a:solidFill>
                        </a:defRPr>
                      </a:pPr>
                      <a:r>
                        <a:t>67 / 67 passed · 23.7 s (security 27 · auth 8 · agentes 32)</a:t>
                      </a:r>
                    </a:p>
                  </a:txBody>
                  <a:tcPr marL="114300" marR="114300" marT="38100" marB="38100" anchor="ctr">
                    <a:solidFill>
                      <a:srgbClr val="F4F6F8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121B2D"/>
                          </a:solidFill>
                        </a:defRPr>
                      </a:pPr>
                      <a:r>
                        <a:t>Injection block rate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121B2D"/>
                          </a:solidFill>
                        </a:defRPr>
                      </a:pPr>
                      <a:r>
                        <a:t>15 / 15 EN+ES bloqueados → 100 %  (objetivo ≥ 90 %)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121B2D"/>
                          </a:solidFill>
                        </a:defRPr>
                      </a:pPr>
                      <a:r>
                        <a:t>Ataques en vivo</a:t>
                      </a:r>
                    </a:p>
                  </a:txBody>
                  <a:tcPr marL="114300" marR="114300"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121B2D"/>
                          </a:solidFill>
                        </a:defRPr>
                      </a:pPr>
                      <a:r>
                        <a:t>'ignore previous…' / 'olvida las reglas…' → score 0.95</a:t>
                      </a:r>
                    </a:p>
                  </a:txBody>
                  <a:tcPr marL="114300" marR="114300" marT="38100" marB="38100" anchor="ctr">
                    <a:solidFill>
                      <a:srgbClr val="F4F6F8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121B2D"/>
                          </a:solidFill>
                        </a:defRPr>
                      </a:pPr>
                      <a:r>
                        <a:t>Queries benignas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121B2D"/>
                          </a:solidFill>
                        </a:defRPr>
                      </a:pPr>
                      <a:r>
                        <a:t>3 / 3 (Science · Software · User) con cita correcta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121B2D"/>
                          </a:solidFill>
                        </a:defRPr>
                      </a:pPr>
                      <a:r>
                        <a:t>Latencia retrieval</a:t>
                      </a:r>
                    </a:p>
                  </a:txBody>
                  <a:tcPr marL="114300" marR="114300"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121B2D"/>
                          </a:solidFill>
                        </a:defRPr>
                      </a:pPr>
                      <a:r>
                        <a:t>896 / 911 / 930 / 1321 ms · promedio 1054 ms</a:t>
                      </a:r>
                    </a:p>
                  </a:txBody>
                  <a:tcPr marL="114300" marR="114300" marT="38100" marB="38100" anchor="ctr">
                    <a:solidFill>
                      <a:srgbClr val="F4F6F8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121B2D"/>
                          </a:solidFill>
                        </a:defRPr>
                      </a:pPr>
                      <a:r>
                        <a:t>Tokens por respuesta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121B2D"/>
                          </a:solidFill>
                        </a:defRPr>
                      </a:pPr>
                      <a:r>
                        <a:t>593 (con citas explícitas a archivos del corpus)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121B2D"/>
                          </a:solidFill>
                        </a:defRPr>
                      </a:pPr>
                      <a:r>
                        <a:t>/metrics</a:t>
                      </a:r>
                    </a:p>
                  </a:txBody>
                  <a:tcPr marL="114300" marR="114300"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121B2D"/>
                          </a:solidFill>
                        </a:defRPr>
                      </a:pPr>
                      <a:r>
                        <a:t>6 req · avg_latency 4.4 s · blocked_by_guard 0.33 · error 0.00</a:t>
                      </a:r>
                    </a:p>
                  </a:txBody>
                  <a:tcPr marL="114300" marR="114300" marT="38100" marB="38100" anchor="ctr">
                    <a:solidFill>
                      <a:srgbClr val="F4F6F8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121B2D"/>
                          </a:solidFill>
                        </a:defRPr>
                      </a:pPr>
                      <a:r>
                        <a:t>PII / canary / rate-limit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121B2D"/>
                          </a:solidFill>
                        </a:defRPr>
                      </a:pPr>
                      <a:r>
                        <a:t>4 / 4 / 4 passed (OWASP LLM06 / LLM01 / LLM04)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" y="6473952"/>
            <a:ext cx="1018001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00">
                <a:solidFill>
                  <a:srgbClr val="55606A"/>
                </a:solidFill>
              </a:defRPr>
            </a:pPr>
            <a:r>
              <a:t>FIUBA · PNL III · Knowledge Assistant · Grupo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048695" y="6437376"/>
            <a:ext cx="713232" cy="292608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26 / 32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52000">
                <a:srgbClr val="F6F9FC"/>
              </a:gs>
              <a:gs pos="100000">
                <a:srgbClr val="ECF3F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gradFill rotWithShape="1">
            <a:gsLst>
              <a:gs pos="0">
                <a:srgbClr val="00A8E1"/>
              </a:gs>
              <a:gs pos="52000">
                <a:srgbClr val="1090CA"/>
              </a:gs>
              <a:gs pos="100000">
                <a:srgbClr val="1F77B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FIUB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274320"/>
            <a:ext cx="1427892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6928"/>
            <a:ext cx="99971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A8E1"/>
                </a:solidFill>
              </a:defRPr>
            </a:pPr>
            <a:r>
              <a:t>RESULTADOS · EVIDENCIA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50976"/>
            <a:ext cx="99971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21B2D"/>
                </a:solidFill>
              </a:defRPr>
            </a:pPr>
            <a:r>
              <a:t>Documentación de referencia — ReDoc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554480" cy="54864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47088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1F77B4"/>
                </a:solidFill>
              </a:defRPr>
            </a:pPr>
            <a:r>
              <a:t>Documentación viva publicada por la propia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00A8E1"/>
                </a:solidFill>
              </a:rPr>
              <a:t>▸  </a:t>
            </a:r>
            <a:r>
              <a:rPr sz="1500">
                <a:solidFill>
                  <a:srgbClr val="121B2D"/>
                </a:solidFill>
              </a:rPr>
              <a:t>La misma spec OpenAPI renderizada como documentación navegable.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00A8E1"/>
                </a:solidFill>
              </a:rPr>
              <a:t>▸  </a:t>
            </a:r>
            <a:r>
              <a:rPr sz="1500">
                <a:solidFill>
                  <a:srgbClr val="121B2D"/>
                </a:solidFill>
              </a:rPr>
              <a:t>Descripción, modelos y ejemplos de request/response por endpoint.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00A8E1"/>
                </a:solidFill>
              </a:rPr>
              <a:t>▸  </a:t>
            </a:r>
            <a:r>
              <a:rPr sz="1500">
                <a:solidFill>
                  <a:srgbClr val="121B2D"/>
                </a:solidFill>
              </a:rPr>
              <a:t>Pensada para evaluadores y nuevos integrantes del equipo.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00A8E1"/>
                </a:solidFill>
              </a:rPr>
              <a:t>▸  </a:t>
            </a:r>
            <a:r>
              <a:rPr sz="1500">
                <a:solidFill>
                  <a:srgbClr val="121B2D"/>
                </a:solidFill>
              </a:rPr>
              <a:t>Generada automáticamente: cero drift entre código y documentación.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7656" y="1792223"/>
            <a:ext cx="3552607" cy="4736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6"/>
            </a:solidFill>
          </a:ln>
          <a:effectLst>
            <a:outerShdw blurRad="114300" dist="63500" dir="5400000" rotWithShape="0">
              <a:srgbClr val="00000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2-red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9952" y="1874519"/>
            <a:ext cx="3388015" cy="457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6473952"/>
            <a:ext cx="1018001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00">
                <a:solidFill>
                  <a:srgbClr val="55606A"/>
                </a:solidFill>
              </a:defRPr>
            </a:pPr>
            <a:r>
              <a:t>FIUBA · PNL III · Knowledge Assistant · Grupo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048695" y="6437376"/>
            <a:ext cx="713232" cy="292608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27 / 32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52000">
                <a:srgbClr val="F6F9FC"/>
              </a:gs>
              <a:gs pos="100000">
                <a:srgbClr val="ECF3F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gradFill rotWithShape="1">
            <a:gsLst>
              <a:gs pos="0">
                <a:srgbClr val="00A8E1"/>
              </a:gs>
              <a:gs pos="52000">
                <a:srgbClr val="1090CA"/>
              </a:gs>
              <a:gs pos="100000">
                <a:srgbClr val="1F77B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FIUB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274320"/>
            <a:ext cx="1427892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6928"/>
            <a:ext cx="99971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A8E1"/>
                </a:solidFill>
              </a:defRPr>
            </a:pPr>
            <a:r>
              <a:t>RESULTADOS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50976"/>
            <a:ext cx="99971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21B2D"/>
                </a:solidFill>
              </a:defRPr>
            </a:pPr>
            <a:r>
              <a:t>Demo en vivo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554480" cy="54864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1. POST /auth/register con email + password → 201.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2. POST /auth/login → recibimos JWT.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3. POST /query con Bearer token → respuesta fundamentada + citas.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4. Mostrar bloqueo: 'Ignore all previous instructions...' → 4xx con motivo.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5. GET /me/queries → historial del usuario, aislado.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00A8E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6. GET /metrics → todas las métricas que diseñamos.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1018001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00">
                <a:solidFill>
                  <a:srgbClr val="55606A"/>
                </a:solidFill>
              </a:defRPr>
            </a:pPr>
            <a:r>
              <a:t>FIUBA · PNL III · Knowledge Assistant · Grupo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48695" y="6437376"/>
            <a:ext cx="713232" cy="292608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28 / 32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424"/>
              </a:gs>
              <a:gs pos="52000">
                <a:srgbClr val="101F35"/>
              </a:gs>
              <a:gs pos="100000">
                <a:srgbClr val="162A46"/>
              </a:gs>
            </a:gsLst>
            <a:lin ang="36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3246120"/>
            <a:ext cx="1280160" cy="73152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63721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A8E1"/>
                </a:solidFill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383280"/>
            <a:ext cx="106372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Cierre</a:t>
            </a:r>
          </a:p>
          <a:p>
            <a:pPr>
              <a:spcBef>
                <a:spcPts val="800"/>
              </a:spcBef>
              <a:defRPr sz="1800" i="1">
                <a:solidFill>
                  <a:srgbClr val="9FB6CC"/>
                </a:solidFill>
              </a:defRPr>
            </a:pPr>
            <a:r>
              <a:t>Limitaciones y conclusiones</a:t>
            </a:r>
          </a:p>
        </p:txBody>
      </p:sp>
      <p:pic>
        <p:nvPicPr>
          <p:cNvPr id="7" name="Picture 6" descr="logoFIUB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852160"/>
            <a:ext cx="1510270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473952"/>
            <a:ext cx="1018001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00">
                <a:solidFill>
                  <a:srgbClr val="55606A"/>
                </a:solidFill>
              </a:defRPr>
            </a:pPr>
            <a:r>
              <a:t>FIUBA · PNL III · Knowledge Assistant · Grupo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048695" y="6437376"/>
            <a:ext cx="713232" cy="292608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29 / 32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52000">
                <a:srgbClr val="F6F9FC"/>
              </a:gs>
              <a:gs pos="100000">
                <a:srgbClr val="ECF3F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gradFill rotWithShape="1">
            <a:gsLst>
              <a:gs pos="0">
                <a:srgbClr val="00A8E1"/>
              </a:gs>
              <a:gs pos="52000">
                <a:srgbClr val="1090CA"/>
              </a:gs>
              <a:gs pos="100000">
                <a:srgbClr val="1F77B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FIUB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274320"/>
            <a:ext cx="1427892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6928"/>
            <a:ext cx="99971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A8E1"/>
                </a:solidFill>
              </a:defRPr>
            </a:pPr>
            <a:r>
              <a:t>CIERRE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50976"/>
            <a:ext cx="99971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21B2D"/>
                </a:solidFill>
              </a:defRPr>
            </a:pPr>
            <a:r>
              <a:t>Limitaciones y trabajo futuro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554480" cy="54864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F59E0B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Heurísticas vs clasificador entrenado: la regex perderá ataques novedosos → entrenar un classifier propio.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F59E0B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PII regex sufre falsos negativos en español; complementar con NER liviano es el siguiente paso.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F59E0B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Bias / fairness aún no cuantificado formalmente (corpus técnico, baja exposición a atributos protegidos).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F59E0B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Watermark de salidas y trust-score por chunk son stubs en risk_register pendientes de implementar.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F59E0B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Pipeline mono-proceso: para producción, mover rate-limiter a Redis.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1018001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00">
                <a:solidFill>
                  <a:srgbClr val="55606A"/>
                </a:solidFill>
              </a:defRPr>
            </a:pPr>
            <a:r>
              <a:t>FIUBA · PNL III · Knowledge Assistant · Grupo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48695" y="6437376"/>
            <a:ext cx="713232" cy="292608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30 / 32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52000">
                <a:srgbClr val="F6F9FC"/>
              </a:gs>
              <a:gs pos="100000">
                <a:srgbClr val="ECF3F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gradFill rotWithShape="1">
            <a:gsLst>
              <a:gs pos="0">
                <a:srgbClr val="00A8E1"/>
              </a:gs>
              <a:gs pos="52000">
                <a:srgbClr val="1090CA"/>
              </a:gs>
              <a:gs pos="100000">
                <a:srgbClr val="1F77B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FIUB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274320"/>
            <a:ext cx="1427892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6928"/>
            <a:ext cx="99971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A8E1"/>
                </a:solidFill>
              </a:defRPr>
            </a:pPr>
            <a:r>
              <a:t>CIERRE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50976"/>
            <a:ext cx="99971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21B2D"/>
                </a:solidFill>
              </a:defRPr>
            </a:pPr>
            <a:r>
              <a:t>Conclusiones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554480" cy="54864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10B98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Construimos un pipeline agéntico explicable, sin cajas negras.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10B98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Cumplimos todos los requisitos de la consigna y agregamos auth + governance + alineación.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10B98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Cada control de seguridad mapea a un riesgo OWASP y a una métrica observable.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10B98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El sistema es defendible: cada decisión se puede explicar leyendo el código y los principios.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>
                <a:solidFill>
                  <a:srgbClr val="10B981"/>
                </a:solidFill>
              </a:rPr>
              <a:t>▸  </a:t>
            </a:r>
            <a:r>
              <a:rPr sz="1800">
                <a:solidFill>
                  <a:srgbClr val="121B2D"/>
                </a:solidFill>
              </a:rPr>
              <a:t>Listo para iterar y extender (corpus, idiomas, fairness).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1018001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00">
                <a:solidFill>
                  <a:srgbClr val="55606A"/>
                </a:solidFill>
              </a:defRPr>
            </a:pPr>
            <a:r>
              <a:t>FIUBA · PNL III · Knowledge Assistant · Grupo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48695" y="6437376"/>
            <a:ext cx="713232" cy="292608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31 / 32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424"/>
              </a:gs>
              <a:gs pos="52000">
                <a:srgbClr val="101F35"/>
              </a:gs>
              <a:gs pos="100000">
                <a:srgbClr val="162A46"/>
              </a:gs>
            </a:gsLst>
            <a:lin ang="33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FIUB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914400"/>
            <a:ext cx="2745946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65176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¡Gracias!</a:t>
            </a:r>
          </a:p>
          <a:p>
            <a:pPr algn="ctr">
              <a:spcBef>
                <a:spcPts val="1000"/>
              </a:spcBef>
              <a:defRPr sz="2000" i="1">
                <a:solidFill>
                  <a:srgbClr val="00A8E1"/>
                </a:solidFill>
              </a:defRPr>
            </a:pPr>
            <a:r>
              <a:t>Preguntas, comentarios y red-team welcome.</a:t>
            </a:r>
          </a:p>
          <a:p>
            <a:pPr algn="ctr">
              <a:spcBef>
                <a:spcPts val="2200"/>
              </a:spcBef>
              <a:defRPr sz="1600">
                <a:solidFill>
                  <a:srgbClr val="B9C8D8"/>
                </a:solidFill>
              </a:defRPr>
            </a:pPr>
            <a:r>
              <a:t>Grupo 1 — Sarmiento · Lloveras · Cuenca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